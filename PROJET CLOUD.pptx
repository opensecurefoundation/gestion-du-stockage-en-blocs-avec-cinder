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4" r:id="rId8"/>
    <p:sldId id="266" r:id="rId9"/>
    <p:sldId id="265" r:id="rId10"/>
    <p:sldId id="275" r:id="rId11"/>
    <p:sldId id="276" r:id="rId12"/>
    <p:sldId id="267" r:id="rId13"/>
    <p:sldId id="269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49382" y="1558632"/>
            <a:ext cx="10027227" cy="1692100"/>
          </a:xfrm>
        </p:spPr>
        <p:txBody>
          <a:bodyPr/>
          <a:lstStyle/>
          <a:p>
            <a:pPr algn="ctr"/>
            <a:r>
              <a:rPr lang="fr-FR" dirty="0" smtClean="0"/>
              <a:t>GESTION DU STOCKAGE EN BLOC AVEC CINDER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713649"/>
          </a:xfrm>
        </p:spPr>
        <p:txBody>
          <a:bodyPr>
            <a:normAutofit lnSpcReduction="10000"/>
          </a:bodyPr>
          <a:lstStyle/>
          <a:p>
            <a:pPr algn="ctr"/>
            <a:endParaRPr lang="fr-FR" dirty="0" smtClean="0"/>
          </a:p>
          <a:p>
            <a:pPr algn="ctr"/>
            <a:r>
              <a:rPr lang="fr-FR" dirty="0" smtClean="0"/>
              <a:t>Rédigé et Présenté par </a:t>
            </a:r>
            <a:r>
              <a:rPr lang="fr-FR" b="1" dirty="0" smtClean="0"/>
              <a:t>DZOUAKEU FESSI Emmanuella Cindy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 smtClean="0"/>
          </a:p>
          <a:p>
            <a:r>
              <a:rPr lang="fr-FR" dirty="0" smtClean="0"/>
              <a:t>Sous la supervision de : M. NGUIMBUS Emmanuel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586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 smtClean="0"/>
              <a:t>PLAN 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INTRODUCTION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CONTEXTE 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PROBLEMATIQUE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OBJECTIFS VISES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FONCTIONNALITES</a:t>
            </a:r>
          </a:p>
          <a:p>
            <a:pPr marL="400050" indent="-400050">
              <a:buFont typeface="+mj-lt"/>
              <a:buAutoNum type="romanUcPeriod"/>
            </a:pPr>
            <a:r>
              <a:rPr lang="fr-FR" smtClean="0"/>
              <a:t>RESULTAT ATTENDU</a:t>
            </a:r>
            <a:endParaRPr lang="fr-FR" dirty="0" smtClean="0"/>
          </a:p>
          <a:p>
            <a:pPr marL="400050" indent="-400050">
              <a:buFont typeface="+mj-lt"/>
              <a:buAutoNum type="romanUcPeriod"/>
            </a:pPr>
            <a:r>
              <a:rPr lang="fr-FR" dirty="0" smtClean="0"/>
              <a:t>RESSOURCES UTILISEES</a:t>
            </a:r>
          </a:p>
          <a:p>
            <a:pPr marL="0" indent="0">
              <a:buNone/>
            </a:pPr>
            <a:r>
              <a:rPr lang="fr-FR" dirty="0" smtClean="0"/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36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INTRODUCTION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15784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fr-FR" dirty="0"/>
              <a:t>Dans le contexte actuel de la virtualisation et du </a:t>
            </a:r>
            <a:r>
              <a:rPr lang="fr-FR" dirty="0" err="1"/>
              <a:t>cloud</a:t>
            </a:r>
            <a:r>
              <a:rPr lang="fr-FR" dirty="0"/>
              <a:t> </a:t>
            </a:r>
            <a:r>
              <a:rPr lang="fr-FR" dirty="0" err="1"/>
              <a:t>computing</a:t>
            </a:r>
            <a:r>
              <a:rPr lang="fr-FR" dirty="0"/>
              <a:t>, la gestion efficace et sécurisée du stockage des données constitue un enjeu majeur pour les entreprises et institutions. </a:t>
            </a:r>
            <a:r>
              <a:rPr lang="fr-FR" dirty="0" err="1"/>
              <a:t>OpenStack</a:t>
            </a:r>
            <a:r>
              <a:rPr lang="fr-FR" dirty="0"/>
              <a:t>, en tant que plateforme </a:t>
            </a:r>
            <a:r>
              <a:rPr lang="fr-FR" dirty="0" err="1"/>
              <a:t>cloud</a:t>
            </a:r>
            <a:r>
              <a:rPr lang="fr-FR" dirty="0"/>
              <a:t> open source, offre une panoplie de services modulaires dont </a:t>
            </a:r>
            <a:r>
              <a:rPr lang="fr-FR" dirty="0" err="1"/>
              <a:t>Cinder</a:t>
            </a:r>
            <a:r>
              <a:rPr lang="fr-FR" dirty="0"/>
              <a:t>, le service de gestion de stockage en blocs</a:t>
            </a:r>
            <a:r>
              <a:rPr lang="fr-FR" dirty="0" smtClean="0"/>
              <a:t>. Ce </a:t>
            </a:r>
            <a:r>
              <a:rPr lang="fr-FR" dirty="0"/>
              <a:t>projet vise à concevoir et à mettre en œuvre une solution de gestion de stockage en blocs basée sur </a:t>
            </a:r>
            <a:r>
              <a:rPr lang="fr-FR" dirty="0" err="1"/>
              <a:t>Cinder</a:t>
            </a:r>
            <a:r>
              <a:rPr lang="fr-FR" dirty="0"/>
              <a:t>, tout en intégrant des mécanismes avancés de chiffrement via </a:t>
            </a:r>
            <a:r>
              <a:rPr lang="fr-FR" dirty="0" err="1"/>
              <a:t>Barbican</a:t>
            </a:r>
            <a:r>
              <a:rPr lang="fr-FR" dirty="0"/>
              <a:t> (le gestionnaire de clés d’</a:t>
            </a:r>
            <a:r>
              <a:rPr lang="fr-FR" dirty="0" err="1"/>
              <a:t>OpenStack</a:t>
            </a:r>
            <a:r>
              <a:rPr lang="fr-FR" dirty="0"/>
              <a:t>) et en automatisant les processus de création, de </a:t>
            </a:r>
            <a:r>
              <a:rPr lang="fr-FR" dirty="0" err="1"/>
              <a:t>snapshot</a:t>
            </a:r>
            <a:r>
              <a:rPr lang="fr-FR" dirty="0"/>
              <a:t> et de restauration des volumes dans le cadre d’un Plan de Reprise d’Activité (PRA).</a:t>
            </a:r>
          </a:p>
        </p:txBody>
      </p:sp>
    </p:spTree>
    <p:extLst>
      <p:ext uri="{BB962C8B-B14F-4D97-AF65-F5344CB8AC3E}">
        <p14:creationId xmlns:p14="http://schemas.microsoft.com/office/powerpoint/2010/main" val="2751020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CONTEXTE 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158323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CONTEXTE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Dans</a:t>
            </a:r>
            <a:r>
              <a:rPr lang="en-US" dirty="0"/>
              <a:t> les </a:t>
            </a:r>
            <a:r>
              <a:rPr lang="en-US" dirty="0" err="1"/>
              <a:t>environnements</a:t>
            </a:r>
            <a:r>
              <a:rPr lang="en-US" dirty="0"/>
              <a:t> </a:t>
            </a:r>
            <a:r>
              <a:rPr lang="en-US" dirty="0" err="1"/>
              <a:t>OpenStack</a:t>
            </a:r>
            <a:r>
              <a:rPr lang="en-US" dirty="0"/>
              <a:t>, la </a:t>
            </a:r>
            <a:r>
              <a:rPr lang="en-US" dirty="0" err="1"/>
              <a:t>gestion</a:t>
            </a:r>
            <a:r>
              <a:rPr lang="en-US" dirty="0"/>
              <a:t> des snapshots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généralement</a:t>
            </a:r>
            <a:r>
              <a:rPr lang="en-US" dirty="0"/>
              <a:t> </a:t>
            </a:r>
            <a:r>
              <a:rPr lang="en-US" dirty="0" err="1"/>
              <a:t>réalisée</a:t>
            </a:r>
            <a:r>
              <a:rPr lang="en-US" dirty="0"/>
              <a:t> </a:t>
            </a:r>
            <a:r>
              <a:rPr lang="en-US" dirty="0" err="1"/>
              <a:t>manuellement</a:t>
            </a:r>
            <a:r>
              <a:rPr lang="en-US" dirty="0"/>
              <a:t>.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approche</a:t>
            </a:r>
            <a:r>
              <a:rPr lang="en-US" dirty="0"/>
              <a:t> </a:t>
            </a:r>
            <a:r>
              <a:rPr lang="en-US" dirty="0" err="1"/>
              <a:t>présente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limites</a:t>
            </a:r>
            <a:r>
              <a:rPr lang="en-US" dirty="0"/>
              <a:t>, </a:t>
            </a:r>
            <a:r>
              <a:rPr lang="en-US" dirty="0" err="1"/>
              <a:t>notamment</a:t>
            </a:r>
            <a:r>
              <a:rPr lang="en-US" dirty="0"/>
              <a:t> le </a:t>
            </a:r>
            <a:r>
              <a:rPr lang="en-US" dirty="0" err="1"/>
              <a:t>risque</a:t>
            </a:r>
            <a:r>
              <a:rPr lang="en-US" dirty="0"/>
              <a:t> </a:t>
            </a:r>
            <a:r>
              <a:rPr lang="en-US" dirty="0" err="1"/>
              <a:t>d’oubli</a:t>
            </a:r>
            <a:r>
              <a:rPr lang="en-US" dirty="0"/>
              <a:t>, la </a:t>
            </a:r>
            <a:r>
              <a:rPr lang="en-US" dirty="0" err="1"/>
              <a:t>dépendance</a:t>
            </a:r>
            <a:r>
              <a:rPr lang="en-US" dirty="0"/>
              <a:t> à </a:t>
            </a:r>
            <a:r>
              <a:rPr lang="en-US" dirty="0" err="1"/>
              <a:t>l’utilisateur</a:t>
            </a:r>
            <a:r>
              <a:rPr lang="en-US" dirty="0"/>
              <a:t> et le </a:t>
            </a:r>
            <a:r>
              <a:rPr lang="en-US" dirty="0" err="1"/>
              <a:t>manque</a:t>
            </a:r>
            <a:r>
              <a:rPr lang="en-US" dirty="0"/>
              <a:t> </a:t>
            </a:r>
            <a:r>
              <a:rPr lang="en-US" dirty="0" err="1"/>
              <a:t>d’automatisation</a:t>
            </a:r>
            <a:r>
              <a:rPr lang="en-US" dirty="0"/>
              <a:t>. Face à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limites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solution </a:t>
            </a:r>
            <a:r>
              <a:rPr lang="en-US" dirty="0" err="1"/>
              <a:t>automatisée</a:t>
            </a:r>
            <a:r>
              <a:rPr lang="en-US" dirty="0"/>
              <a:t> </a:t>
            </a:r>
            <a:r>
              <a:rPr lang="en-US" dirty="0" err="1"/>
              <a:t>devient</a:t>
            </a:r>
            <a:r>
              <a:rPr lang="en-US" dirty="0"/>
              <a:t> </a:t>
            </a:r>
            <a:r>
              <a:rPr lang="en-US" dirty="0" err="1"/>
              <a:t>nécessaire</a:t>
            </a:r>
            <a:r>
              <a:rPr lang="en-US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576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51508" y="300567"/>
            <a:ext cx="8596668" cy="1826581"/>
          </a:xfrm>
        </p:spPr>
        <p:txBody>
          <a:bodyPr>
            <a:normAutofit/>
          </a:bodyPr>
          <a:lstStyle/>
          <a:p>
            <a:r>
              <a:rPr lang="fr-FR" sz="6000" dirty="0" smtClean="0"/>
              <a:t>PROBLEMATIQUE</a:t>
            </a:r>
            <a:endParaRPr lang="fr-FR" sz="60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8898" y="3072721"/>
            <a:ext cx="8596668" cy="860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Comment </a:t>
            </a:r>
            <a:r>
              <a:rPr lang="en-US" dirty="0" err="1"/>
              <a:t>automatiser</a:t>
            </a:r>
            <a:r>
              <a:rPr lang="en-US" dirty="0"/>
              <a:t> la </a:t>
            </a:r>
            <a:r>
              <a:rPr lang="en-US" dirty="0" err="1"/>
              <a:t>gestion</a:t>
            </a:r>
            <a:r>
              <a:rPr lang="en-US" dirty="0"/>
              <a:t> des snapshots des volumes Cinder tout en </a:t>
            </a:r>
            <a:r>
              <a:rPr lang="en-US" dirty="0" err="1"/>
              <a:t>offrant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interface simple </a:t>
            </a:r>
            <a:r>
              <a:rPr lang="en-US" dirty="0" err="1"/>
              <a:t>permettant</a:t>
            </a:r>
            <a:r>
              <a:rPr lang="en-US" dirty="0"/>
              <a:t> aux </a:t>
            </a:r>
            <a:r>
              <a:rPr lang="en-US" dirty="0" err="1"/>
              <a:t>utilisateurs</a:t>
            </a:r>
            <a:r>
              <a:rPr lang="en-US" dirty="0"/>
              <a:t> de </a:t>
            </a:r>
            <a:r>
              <a:rPr lang="en-US" dirty="0" err="1"/>
              <a:t>configurer</a:t>
            </a:r>
            <a:r>
              <a:rPr lang="en-US" dirty="0"/>
              <a:t> </a:t>
            </a:r>
            <a:r>
              <a:rPr lang="en-US" dirty="0" err="1"/>
              <a:t>eux-mêmes</a:t>
            </a:r>
            <a:r>
              <a:rPr lang="en-US" dirty="0"/>
              <a:t> </a:t>
            </a:r>
            <a:r>
              <a:rPr lang="en-US" dirty="0" err="1"/>
              <a:t>leurs</a:t>
            </a:r>
            <a:r>
              <a:rPr lang="en-US" dirty="0"/>
              <a:t> </a:t>
            </a:r>
            <a:r>
              <a:rPr lang="en-US" dirty="0" err="1"/>
              <a:t>sauvegardes</a:t>
            </a:r>
            <a:r>
              <a:rPr lang="en-US" dirty="0"/>
              <a:t> ?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098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OBJECTIFS VISES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94313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47525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endParaRPr lang="fr-FR" dirty="0" smtClean="0"/>
          </a:p>
          <a:p>
            <a:pPr marL="0" indent="0" algn="just">
              <a:buNone/>
            </a:pPr>
            <a:endParaRPr lang="fr-FR" dirty="0"/>
          </a:p>
          <a:p>
            <a:r>
              <a:rPr lang="en-US" dirty="0" err="1" smtClean="0"/>
              <a:t>Permettre</a:t>
            </a:r>
            <a:r>
              <a:rPr lang="en-US" dirty="0" smtClean="0"/>
              <a:t> </a:t>
            </a:r>
            <a:r>
              <a:rPr lang="en-US" dirty="0"/>
              <a:t>à un </a:t>
            </a:r>
            <a:r>
              <a:rPr lang="en-US" dirty="0" err="1"/>
              <a:t>utilisateur</a:t>
            </a:r>
            <a:r>
              <a:rPr lang="en-US" dirty="0"/>
              <a:t> de </a:t>
            </a:r>
            <a:r>
              <a:rPr lang="en-US" dirty="0" err="1"/>
              <a:t>configurer</a:t>
            </a:r>
            <a:r>
              <a:rPr lang="en-US" dirty="0"/>
              <a:t> des snapshots </a:t>
            </a:r>
            <a:r>
              <a:rPr lang="en-US" dirty="0" err="1" smtClean="0"/>
              <a:t>automatiques</a:t>
            </a:r>
            <a:endParaRPr lang="en-US" dirty="0" smtClean="0"/>
          </a:p>
          <a:p>
            <a:r>
              <a:rPr lang="en-US" dirty="0" err="1" smtClean="0"/>
              <a:t>Automatiser</a:t>
            </a:r>
            <a:r>
              <a:rPr lang="en-US" dirty="0" smtClean="0"/>
              <a:t> </a:t>
            </a:r>
            <a:r>
              <a:rPr lang="en-US" dirty="0"/>
              <a:t>la </a:t>
            </a:r>
            <a:r>
              <a:rPr lang="en-US" dirty="0" err="1"/>
              <a:t>création</a:t>
            </a:r>
            <a:r>
              <a:rPr lang="en-US" dirty="0"/>
              <a:t> des </a:t>
            </a:r>
            <a:r>
              <a:rPr lang="en-US" dirty="0" smtClean="0"/>
              <a:t>snapshots</a:t>
            </a:r>
          </a:p>
          <a:p>
            <a:r>
              <a:rPr lang="en-US" dirty="0" err="1" smtClean="0"/>
              <a:t>Réduire</a:t>
            </a:r>
            <a:r>
              <a:rPr lang="en-US" dirty="0" smtClean="0"/>
              <a:t> </a:t>
            </a:r>
            <a:r>
              <a:rPr lang="en-US" dirty="0"/>
              <a:t>les </a:t>
            </a:r>
            <a:r>
              <a:rPr lang="en-US" dirty="0" err="1"/>
              <a:t>erreurs</a:t>
            </a:r>
            <a:r>
              <a:rPr lang="en-US" dirty="0"/>
              <a:t> </a:t>
            </a:r>
            <a:r>
              <a:rPr lang="en-US" dirty="0" err="1" smtClean="0"/>
              <a:t>humaines</a:t>
            </a:r>
            <a:endParaRPr lang="en-US" dirty="0"/>
          </a:p>
          <a:p>
            <a:r>
              <a:rPr lang="en-US" dirty="0" err="1" smtClean="0"/>
              <a:t>Améliorer</a:t>
            </a:r>
            <a:r>
              <a:rPr lang="en-US" dirty="0" smtClean="0"/>
              <a:t> </a:t>
            </a:r>
            <a:r>
              <a:rPr lang="en-US" dirty="0"/>
              <a:t>la </a:t>
            </a:r>
            <a:r>
              <a:rPr lang="en-US" dirty="0" err="1"/>
              <a:t>disponibilité</a:t>
            </a:r>
            <a:r>
              <a:rPr lang="en-US" dirty="0"/>
              <a:t> des </a:t>
            </a:r>
            <a:r>
              <a:rPr lang="en-US" dirty="0" err="1"/>
              <a:t>données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734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FONCTIONNALITES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2352542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FONCTIONNALITES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1547525"/>
            <a:ext cx="8596668" cy="3880773"/>
          </a:xfrm>
        </p:spPr>
        <p:txBody>
          <a:bodyPr/>
          <a:lstStyle/>
          <a:p>
            <a:pPr marL="0" indent="0" algn="just">
              <a:buNone/>
            </a:pPr>
            <a:endParaRPr lang="fr-FR" dirty="0" smtClean="0"/>
          </a:p>
          <a:p>
            <a:pPr marL="0" indent="0" algn="just">
              <a:buNone/>
            </a:pPr>
            <a:endParaRPr lang="fr-FR" dirty="0"/>
          </a:p>
          <a:p>
            <a:r>
              <a:rPr lang="fr-FR" dirty="0"/>
              <a:t>Authentification via </a:t>
            </a:r>
            <a:r>
              <a:rPr lang="fr-FR" dirty="0" err="1"/>
              <a:t>Keystone</a:t>
            </a:r>
            <a:endParaRPr lang="fr-FR" dirty="0"/>
          </a:p>
          <a:p>
            <a:r>
              <a:rPr lang="fr-FR" dirty="0" smtClean="0"/>
              <a:t>Affichage </a:t>
            </a:r>
            <a:r>
              <a:rPr lang="fr-FR" dirty="0"/>
              <a:t>des volumes </a:t>
            </a:r>
            <a:r>
              <a:rPr lang="fr-FR" dirty="0" err="1"/>
              <a:t>Cinder</a:t>
            </a:r>
            <a:endParaRPr lang="fr-FR" dirty="0"/>
          </a:p>
          <a:p>
            <a:r>
              <a:rPr lang="fr-FR" dirty="0" smtClean="0"/>
              <a:t>Sélection </a:t>
            </a:r>
            <a:r>
              <a:rPr lang="fr-FR" dirty="0"/>
              <a:t>d’un volume</a:t>
            </a:r>
          </a:p>
          <a:p>
            <a:r>
              <a:rPr lang="fr-FR" dirty="0" smtClean="0"/>
              <a:t>Définition </a:t>
            </a:r>
            <a:r>
              <a:rPr lang="fr-FR" dirty="0"/>
              <a:t>de la fréquence de </a:t>
            </a:r>
            <a:r>
              <a:rPr lang="fr-FR" dirty="0" err="1"/>
              <a:t>snapshot</a:t>
            </a:r>
            <a:endParaRPr lang="fr-FR" dirty="0"/>
          </a:p>
          <a:p>
            <a:r>
              <a:rPr lang="fr-FR" dirty="0" smtClean="0"/>
              <a:t>Planification </a:t>
            </a:r>
            <a:r>
              <a:rPr lang="fr-FR" dirty="0"/>
              <a:t>automatique des </a:t>
            </a:r>
            <a:r>
              <a:rPr lang="fr-FR" dirty="0" err="1"/>
              <a:t>snapshots</a:t>
            </a:r>
            <a:endParaRPr lang="fr-FR" dirty="0"/>
          </a:p>
          <a:p>
            <a:r>
              <a:rPr lang="fr-FR" dirty="0" smtClean="0"/>
              <a:t>Restauration via </a:t>
            </a:r>
            <a:r>
              <a:rPr lang="fr-FR" dirty="0" err="1"/>
              <a:t>snapshot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0257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dirty="0" smtClean="0"/>
              <a:t>RESULTAT ATTENDU </a:t>
            </a:r>
            <a:endParaRPr lang="fr-FR" sz="6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permettant</a:t>
            </a:r>
            <a:r>
              <a:rPr lang="en-US" dirty="0"/>
              <a:t> à </a:t>
            </a:r>
            <a:r>
              <a:rPr lang="en-US" dirty="0" err="1"/>
              <a:t>l’utilisateur</a:t>
            </a:r>
            <a:r>
              <a:rPr lang="en-US" dirty="0"/>
              <a:t> de </a:t>
            </a:r>
            <a:r>
              <a:rPr lang="en-US" dirty="0" err="1"/>
              <a:t>configurer</a:t>
            </a:r>
            <a:r>
              <a:rPr lang="en-US" dirty="0"/>
              <a:t> </a:t>
            </a:r>
            <a:r>
              <a:rPr lang="en-US" dirty="0" err="1"/>
              <a:t>facilement</a:t>
            </a:r>
            <a:r>
              <a:rPr lang="en-US" dirty="0"/>
              <a:t> des snapshots </a:t>
            </a:r>
            <a:r>
              <a:rPr lang="en-US" dirty="0" err="1"/>
              <a:t>automatiques</a:t>
            </a:r>
            <a:r>
              <a:rPr lang="en-US" dirty="0"/>
              <a:t>, </a:t>
            </a:r>
            <a:r>
              <a:rPr lang="en-US" dirty="0" err="1"/>
              <a:t>garantissant</a:t>
            </a:r>
            <a:r>
              <a:rPr lang="en-US" dirty="0"/>
              <a:t> la </a:t>
            </a:r>
            <a:r>
              <a:rPr lang="en-US" dirty="0" err="1"/>
              <a:t>sécurité</a:t>
            </a:r>
            <a:r>
              <a:rPr lang="en-US" dirty="0"/>
              <a:t> et la </a:t>
            </a:r>
            <a:r>
              <a:rPr lang="en-US" dirty="0" err="1"/>
              <a:t>disponibilité</a:t>
            </a:r>
            <a:r>
              <a:rPr lang="en-US" dirty="0"/>
              <a:t> des </a:t>
            </a:r>
            <a:r>
              <a:rPr lang="en-US" dirty="0" err="1"/>
              <a:t>données</a:t>
            </a:r>
            <a:r>
              <a:rPr lang="en-US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2053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RESSOURCES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546285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RESSOURCES LOGICIELLES</a:t>
            </a:r>
            <a:endParaRPr lang="fr-FR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500689" y="1930400"/>
            <a:ext cx="962789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OpenStack</a:t>
            </a: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(modules principaux : Nova,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Cinder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Keystone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Glance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Horizon,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Barbican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Linux (</a:t>
            </a: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Ubuntu</a:t>
            </a: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Server)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pour l’environnement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cloud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Python / Shell </a:t>
            </a: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scripting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pour l’automatisation.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Base de données MySQL / </a:t>
            </a: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MariaDB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pour le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backend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Cinder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API REST d’</a:t>
            </a: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OpenStack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pour les appels automatisés.</a:t>
            </a:r>
          </a:p>
        </p:txBody>
      </p:sp>
    </p:spTree>
    <p:extLst>
      <p:ext uri="{BB962C8B-B14F-4D97-AF65-F5344CB8AC3E}">
        <p14:creationId xmlns:p14="http://schemas.microsoft.com/office/powerpoint/2010/main" val="175387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RESSOURCES MATERIELLES</a:t>
            </a:r>
            <a:endParaRPr lang="fr-FR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0063" y="2346257"/>
            <a:ext cx="789579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Serveurs physiques ou machines virtuelles : pour la configuration du </a:t>
            </a:r>
            <a:r>
              <a:rPr kumimoji="0" lang="fr-FR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cloud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Stockage de type </a:t>
            </a: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LVM, </a:t>
            </a: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Ceph</a:t>
            </a: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ou </a:t>
            </a:r>
            <a:r>
              <a:rPr kumimoji="0" lang="fr-F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iSCSI</a:t>
            </a: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: pour la gestion en blocs.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Infrastructure réseau interne fiable : (LAN/VLAN).</a:t>
            </a:r>
          </a:p>
        </p:txBody>
      </p:sp>
    </p:spTree>
    <p:extLst>
      <p:ext uri="{BB962C8B-B14F-4D97-AF65-F5344CB8AC3E}">
        <p14:creationId xmlns:p14="http://schemas.microsoft.com/office/powerpoint/2010/main" val="421049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1243" y="2428009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fr-FR" sz="6000" dirty="0" smtClean="0"/>
              <a:t>CONCLUSION</a:t>
            </a:r>
            <a:endParaRPr lang="fr-FR" sz="6000" dirty="0"/>
          </a:p>
        </p:txBody>
      </p:sp>
    </p:spTree>
    <p:extLst>
      <p:ext uri="{BB962C8B-B14F-4D97-AF65-F5344CB8AC3E}">
        <p14:creationId xmlns:p14="http://schemas.microsoft.com/office/powerpoint/2010/main" val="3867857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</a:t>
            </a:r>
            <a:endParaRPr lang="fr-FR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0062" y="1930758"/>
            <a:ext cx="899722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fr-FR" dirty="0">
                <a:solidFill>
                  <a:schemeClr val="tx1"/>
                </a:solidFill>
              </a:rPr>
              <a:t>La mise en œuvre d’un système de gestion de stockage en blocs avec </a:t>
            </a:r>
            <a:r>
              <a:rPr lang="fr-FR" dirty="0" err="1">
                <a:solidFill>
                  <a:schemeClr val="tx1"/>
                </a:solidFill>
              </a:rPr>
              <a:t>Cinder</a:t>
            </a:r>
            <a:r>
              <a:rPr lang="fr-FR" dirty="0">
                <a:solidFill>
                  <a:schemeClr val="tx1"/>
                </a:solidFill>
              </a:rPr>
              <a:t>, enrichi de mécanismes de chiffrement avancés via </a:t>
            </a:r>
            <a:r>
              <a:rPr lang="fr-FR" dirty="0" err="1">
                <a:solidFill>
                  <a:schemeClr val="tx1"/>
                </a:solidFill>
              </a:rPr>
              <a:t>Barbican</a:t>
            </a:r>
            <a:r>
              <a:rPr lang="fr-FR" dirty="0">
                <a:solidFill>
                  <a:schemeClr val="tx1"/>
                </a:solidFill>
              </a:rPr>
              <a:t> et d’une automatisation complète du PRA, constitue une avancée majeure pour la sécurité et la résilience des infrastructures </a:t>
            </a:r>
            <a:r>
              <a:rPr lang="fr-FR" dirty="0" err="1">
                <a:solidFill>
                  <a:schemeClr val="tx1"/>
                </a:solidFill>
              </a:rPr>
              <a:t>cloud.Ce</a:t>
            </a:r>
            <a:r>
              <a:rPr lang="fr-FR" dirty="0">
                <a:solidFill>
                  <a:schemeClr val="tx1"/>
                </a:solidFill>
              </a:rPr>
              <a:t> projet permettra non seulement de garantir la confidentialité et l’intégrité des données, mais aussi de réduire les délais de reprise d’activité, tout en simplifiant les tâches d’administration grâce à l’</a:t>
            </a:r>
            <a:r>
              <a:rPr lang="fr-FR" dirty="0" err="1">
                <a:solidFill>
                  <a:schemeClr val="tx1"/>
                </a:solidFill>
              </a:rPr>
              <a:t>automatisation.Il</a:t>
            </a:r>
            <a:r>
              <a:rPr lang="fr-FR" dirty="0">
                <a:solidFill>
                  <a:schemeClr val="tx1"/>
                </a:solidFill>
              </a:rPr>
              <a:t> s’inscrit ainsi dans une démarche globale d’optimisation, de fiabilité et de sécurité des systèmes d’information modernes reposant sur le </a:t>
            </a:r>
            <a:r>
              <a:rPr lang="fr-FR" dirty="0" err="1">
                <a:solidFill>
                  <a:schemeClr val="tx1"/>
                </a:solidFill>
              </a:rPr>
              <a:t>cloud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computing</a:t>
            </a:r>
            <a:r>
              <a:rPr lang="fr-FR" dirty="0">
                <a:solidFill>
                  <a:schemeClr val="tx1"/>
                </a:solidFill>
              </a:rPr>
              <a:t>.</a:t>
            </a: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17809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253</TotalTime>
  <Words>506</Words>
  <Application>Microsoft Office PowerPoint</Application>
  <PresentationFormat>Grand écran</PresentationFormat>
  <Paragraphs>65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Trebuchet MS</vt:lpstr>
      <vt:lpstr>Wingdings</vt:lpstr>
      <vt:lpstr>Wingdings 3</vt:lpstr>
      <vt:lpstr>Facette</vt:lpstr>
      <vt:lpstr>GESTION DU STOCKAGE EN BLOC AVEC CINDER </vt:lpstr>
      <vt:lpstr>PLAN </vt:lpstr>
      <vt:lpstr>INTRODUCTION</vt:lpstr>
      <vt:lpstr>INTRODUCTION</vt:lpstr>
      <vt:lpstr>CONTEXTE </vt:lpstr>
      <vt:lpstr>CONTEXTE </vt:lpstr>
      <vt:lpstr>PROBLEMATIQUE</vt:lpstr>
      <vt:lpstr>OBJECTIFS VISES</vt:lpstr>
      <vt:lpstr>OBJECTIFS</vt:lpstr>
      <vt:lpstr>FONCTIONNALITES</vt:lpstr>
      <vt:lpstr>FONCTIONNALITES</vt:lpstr>
      <vt:lpstr>RESULTAT ATTENDU </vt:lpstr>
      <vt:lpstr>RESSOURCES</vt:lpstr>
      <vt:lpstr>RESSOURCES LOGICIELLES</vt:lpstr>
      <vt:lpstr>RESSOURCES MATERIELLES</vt:lpstr>
      <vt:lpstr>CONCLUSION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DU STOCKAGE EN BLOC AVEC CINDER</dc:title>
  <dc:creator>HP</dc:creator>
  <cp:lastModifiedBy>HP</cp:lastModifiedBy>
  <cp:revision>8</cp:revision>
  <dcterms:created xsi:type="dcterms:W3CDTF">2025-10-11T10:13:46Z</dcterms:created>
  <dcterms:modified xsi:type="dcterms:W3CDTF">2026-03-26T00:54:15Z</dcterms:modified>
</cp:coreProperties>
</file>