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74" r:id="rId7"/>
    <p:sldId id="275" r:id="rId8"/>
    <p:sldId id="262" r:id="rId9"/>
    <p:sldId id="276" r:id="rId10"/>
    <p:sldId id="266" r:id="rId11"/>
    <p:sldId id="265" r:id="rId12"/>
    <p:sldId id="264" r:id="rId13"/>
    <p:sldId id="263" r:id="rId14"/>
    <p:sldId id="281" r:id="rId15"/>
    <p:sldId id="278" r:id="rId16"/>
    <p:sldId id="282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9382" y="1558632"/>
            <a:ext cx="10027227" cy="1692100"/>
          </a:xfrm>
        </p:spPr>
        <p:txBody>
          <a:bodyPr/>
          <a:lstStyle/>
          <a:p>
            <a:pPr algn="ctr"/>
            <a:r>
              <a:rPr lang="fr-FR" dirty="0" smtClean="0"/>
              <a:t>GESTION DU STOCKAGE EN BLOC AVEC CINDER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713649"/>
          </a:xfrm>
        </p:spPr>
        <p:txBody>
          <a:bodyPr>
            <a:normAutofit lnSpcReduction="10000"/>
          </a:bodyPr>
          <a:lstStyle/>
          <a:p>
            <a:pPr algn="ctr"/>
            <a:endParaRPr lang="fr-FR" dirty="0" smtClean="0"/>
          </a:p>
          <a:p>
            <a:pPr algn="ctr"/>
            <a:r>
              <a:rPr lang="fr-FR" dirty="0" smtClean="0"/>
              <a:t>Rédigé et Présenté par </a:t>
            </a:r>
            <a:r>
              <a:rPr lang="fr-FR" b="1" dirty="0" smtClean="0"/>
              <a:t>DZOUAKEU FESSI Emmanuella Cindy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 smtClean="0"/>
          </a:p>
          <a:p>
            <a:r>
              <a:rPr lang="fr-FR" dirty="0" smtClean="0"/>
              <a:t>Sous la supervision de : M. NGUIMBUS Emmanuel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86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 smtClean="0"/>
              <a:t>PLAN 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INTRODUCTION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CONTEXTE ET JUSTIFICATION DU PROJET  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BESOINS FONCTIONNELS ET NON FONCTIONNELS 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MODELISATION DU SYSTEME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DESCRIPTIONS TEXTUELLES DU SYSTEME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RESULTAT ATTENDU</a:t>
            </a:r>
          </a:p>
          <a:p>
            <a:pPr marL="0" indent="0">
              <a:buNone/>
            </a:pPr>
            <a:r>
              <a:rPr lang="fr-FR" dirty="0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36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INTRODUCTION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dirty="0"/>
              <a:t>	Ce cahier d’analyse a pour objectif de définir et structurer les besoins du projet de gestion du stockage en blocs avec </a:t>
            </a:r>
            <a:r>
              <a:rPr lang="fr-FR" dirty="0" err="1"/>
              <a:t>OpenStack</a:t>
            </a:r>
            <a:r>
              <a:rPr lang="fr-FR" dirty="0"/>
              <a:t> </a:t>
            </a:r>
            <a:r>
              <a:rPr lang="fr-FR" dirty="0" err="1"/>
              <a:t>Cinder</a:t>
            </a:r>
            <a:r>
              <a:rPr lang="fr-FR" dirty="0"/>
              <a:t>. </a:t>
            </a:r>
            <a:r>
              <a:rPr lang="fr-FR" dirty="0" smtClean="0"/>
              <a:t>Ce projet vise à gérer efficacement les données stockées, leur restauration ainsi que leur sécurité.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102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CONTEXTE   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58323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357351"/>
            <a:ext cx="8596668" cy="82434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299580"/>
            <a:ext cx="8596668" cy="47590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dirty="0"/>
              <a:t>	Dans les infrastructures </a:t>
            </a:r>
            <a:r>
              <a:rPr lang="fr-FR" dirty="0" err="1"/>
              <a:t>cloud</a:t>
            </a:r>
            <a:r>
              <a:rPr lang="fr-FR" dirty="0"/>
              <a:t> basées sur </a:t>
            </a:r>
            <a:r>
              <a:rPr lang="fr-FR" dirty="0" err="1"/>
              <a:t>OpenStack</a:t>
            </a:r>
            <a:r>
              <a:rPr lang="fr-FR" dirty="0"/>
              <a:t>, les machines virtuelles nécessitent un stockage persistant pour héberger les systèmes, applications et données </a:t>
            </a:r>
            <a:r>
              <a:rPr lang="fr-FR" dirty="0" err="1"/>
              <a:t>critiques.Le</a:t>
            </a:r>
            <a:r>
              <a:rPr lang="fr-FR" dirty="0"/>
              <a:t> service </a:t>
            </a:r>
            <a:r>
              <a:rPr lang="fr-FR" dirty="0" err="1"/>
              <a:t>Cinder</a:t>
            </a:r>
            <a:r>
              <a:rPr lang="fr-FR" dirty="0"/>
              <a:t> permet de fournir ce stockage sous forme de volumes en blocs, </a:t>
            </a:r>
            <a:r>
              <a:rPr lang="fr-FR" dirty="0" err="1"/>
              <a:t>attachables</a:t>
            </a:r>
            <a:r>
              <a:rPr lang="fr-FR" dirty="0"/>
              <a:t> dynamiquement aux instances</a:t>
            </a:r>
            <a:r>
              <a:rPr lang="fr-FR" dirty="0" smtClean="0"/>
              <a:t>.</a:t>
            </a:r>
          </a:p>
          <a:p>
            <a:pPr marL="0" indent="0" algn="just">
              <a:buNone/>
            </a:pPr>
            <a:r>
              <a:rPr lang="fr-FR" dirty="0"/>
              <a:t>	</a:t>
            </a:r>
            <a:r>
              <a:rPr lang="fr-FR" dirty="0" smtClean="0"/>
              <a:t>Cependant</a:t>
            </a:r>
            <a:r>
              <a:rPr lang="fr-FR" dirty="0"/>
              <a:t>, dans de nombreux environnements, la gestion de ces volumes reste </a:t>
            </a:r>
            <a:r>
              <a:rPr lang="fr-FR" dirty="0" smtClean="0"/>
              <a:t>: </a:t>
            </a:r>
          </a:p>
          <a:p>
            <a:pPr algn="just"/>
            <a:r>
              <a:rPr lang="fr-FR" dirty="0" smtClean="0"/>
              <a:t>partiellement </a:t>
            </a:r>
            <a:r>
              <a:rPr lang="fr-FR" dirty="0"/>
              <a:t>manuelle</a:t>
            </a:r>
            <a:r>
              <a:rPr lang="fr-FR" dirty="0" smtClean="0"/>
              <a:t>,</a:t>
            </a:r>
          </a:p>
          <a:p>
            <a:pPr algn="just"/>
            <a:r>
              <a:rPr lang="fr-FR" dirty="0" smtClean="0"/>
              <a:t>insuffisamment sécurisée,</a:t>
            </a:r>
          </a:p>
          <a:p>
            <a:pPr algn="just"/>
            <a:r>
              <a:rPr lang="fr-FR" dirty="0" smtClean="0"/>
              <a:t>peu </a:t>
            </a:r>
            <a:r>
              <a:rPr lang="fr-FR" dirty="0"/>
              <a:t>intégrée aux stratégies de continuité d’activité</a:t>
            </a:r>
            <a:r>
              <a:rPr lang="fr-FR" dirty="0" smtClean="0"/>
              <a:t>.</a:t>
            </a:r>
          </a:p>
          <a:p>
            <a:pPr algn="just"/>
            <a:endParaRPr lang="fr-FR" dirty="0"/>
          </a:p>
          <a:p>
            <a:pPr marL="0" indent="0" algn="just">
              <a:buNone/>
            </a:pPr>
            <a:r>
              <a:rPr lang="fr-FR" dirty="0" smtClean="0"/>
              <a:t>De </a:t>
            </a:r>
            <a:r>
              <a:rPr lang="fr-FR" dirty="0"/>
              <a:t>plus, l’absence d’automatisation dans la gestion des </a:t>
            </a:r>
            <a:r>
              <a:rPr lang="fr-FR" dirty="0" err="1"/>
              <a:t>snapshots</a:t>
            </a:r>
            <a:r>
              <a:rPr lang="fr-FR" dirty="0"/>
              <a:t> et des restaurations complique la mise en œuvre efficace d’un Plan de Reprise d’Activité, augmentant ainsi les risques liés aux pannes ou aux pertes de données..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12576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JUSTIFICATION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290163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357351"/>
            <a:ext cx="8596668" cy="82434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299580"/>
            <a:ext cx="8596668" cy="4759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Face </a:t>
            </a:r>
            <a:r>
              <a:rPr lang="fr-FR" dirty="0"/>
              <a:t>à ces limites, il devient nécessaire de :</a:t>
            </a:r>
          </a:p>
          <a:p>
            <a:pPr lvl="1"/>
            <a:r>
              <a:rPr lang="fr-FR" sz="1800" dirty="0"/>
              <a:t>renforcer la </a:t>
            </a:r>
            <a:r>
              <a:rPr lang="fr-FR" sz="1800" b="1" dirty="0"/>
              <a:t>sécurité des données stockées</a:t>
            </a:r>
            <a:r>
              <a:rPr lang="fr-FR" sz="1800" dirty="0"/>
              <a:t> grâce au chiffrement,</a:t>
            </a:r>
          </a:p>
          <a:p>
            <a:pPr lvl="1"/>
            <a:r>
              <a:rPr lang="fr-FR" sz="1800" dirty="0"/>
              <a:t>centraliser la </a:t>
            </a:r>
            <a:r>
              <a:rPr lang="fr-FR" sz="1800" b="1" dirty="0"/>
              <a:t>gestion des clés de chiffrement</a:t>
            </a:r>
            <a:r>
              <a:rPr lang="fr-FR" sz="1800" dirty="0"/>
              <a:t>,</a:t>
            </a:r>
          </a:p>
          <a:p>
            <a:pPr lvl="1"/>
            <a:r>
              <a:rPr lang="fr-FR" sz="1800" dirty="0"/>
              <a:t>automatiser les processus critiques de </a:t>
            </a:r>
            <a:r>
              <a:rPr lang="fr-FR" sz="1800" b="1" dirty="0"/>
              <a:t>sauvegarde et de </a:t>
            </a:r>
            <a:r>
              <a:rPr lang="fr-FR" sz="1800" b="1" dirty="0" smtClean="0"/>
              <a:t>restauration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	L’intégration de </a:t>
            </a:r>
            <a:r>
              <a:rPr lang="fr-FR" b="1" dirty="0" err="1" smtClean="0"/>
              <a:t>Barbican</a:t>
            </a:r>
            <a:r>
              <a:rPr lang="fr-FR" dirty="0" smtClean="0"/>
              <a:t>, le service de gestion des secrets d’</a:t>
            </a:r>
            <a:r>
              <a:rPr lang="fr-FR" dirty="0" err="1" smtClean="0"/>
              <a:t>OpenStack</a:t>
            </a:r>
            <a:r>
              <a:rPr lang="fr-FR" dirty="0" smtClean="0"/>
              <a:t>, avec </a:t>
            </a:r>
            <a:r>
              <a:rPr lang="fr-FR" b="1" dirty="0" err="1" smtClean="0"/>
              <a:t>Cinder</a:t>
            </a:r>
            <a:r>
              <a:rPr lang="fr-FR" dirty="0" smtClean="0"/>
              <a:t>, permet de répondre à ces exigences en offrant un chiffrement avancé et une gestion sécurisée des clés.</a:t>
            </a:r>
          </a:p>
          <a:p>
            <a:pPr marL="0" indent="0">
              <a:buNone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Ce projet se justifie donc par la volonté d’améliorer la </a:t>
            </a:r>
            <a:r>
              <a:rPr lang="fr-FR" b="1" dirty="0" smtClean="0"/>
              <a:t>résilience</a:t>
            </a:r>
            <a:r>
              <a:rPr lang="fr-FR" dirty="0" smtClean="0"/>
              <a:t>, la </a:t>
            </a:r>
            <a:r>
              <a:rPr lang="fr-FR" b="1" dirty="0" smtClean="0"/>
              <a:t>sécurité</a:t>
            </a:r>
            <a:r>
              <a:rPr lang="fr-FR" dirty="0" smtClean="0"/>
              <a:t> et la </a:t>
            </a:r>
            <a:r>
              <a:rPr lang="fr-FR" b="1" dirty="0" smtClean="0"/>
              <a:t>fiabilité</a:t>
            </a:r>
            <a:r>
              <a:rPr lang="fr-FR" dirty="0" smtClean="0"/>
              <a:t> du stockage dans un environnement </a:t>
            </a:r>
            <a:r>
              <a:rPr lang="fr-FR" dirty="0" err="1" smtClean="0"/>
              <a:t>cloud</a:t>
            </a:r>
            <a:r>
              <a:rPr lang="fr-FR" dirty="0" smtClean="0"/>
              <a:t> </a:t>
            </a:r>
            <a:r>
              <a:rPr lang="fr-FR" dirty="0" err="1" smtClean="0"/>
              <a:t>OpenStack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99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79401"/>
            <a:ext cx="8596668" cy="1320800"/>
          </a:xfrm>
        </p:spPr>
        <p:txBody>
          <a:bodyPr/>
          <a:lstStyle/>
          <a:p>
            <a:pPr algn="ctr"/>
            <a:r>
              <a:rPr lang="fr-FR" dirty="0" smtClean="0"/>
              <a:t>BESOINS FONCTIONNELS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821382"/>
          </a:xfrm>
        </p:spPr>
        <p:txBody>
          <a:bodyPr>
            <a:normAutofit/>
          </a:bodyPr>
          <a:lstStyle/>
          <a:p>
            <a:r>
              <a:rPr lang="fr-FR" dirty="0"/>
              <a:t>Authentification via </a:t>
            </a:r>
            <a:r>
              <a:rPr lang="fr-FR" dirty="0" err="1"/>
              <a:t>Keystone</a:t>
            </a:r>
            <a:endParaRPr lang="fr-FR" dirty="0"/>
          </a:p>
          <a:p>
            <a:r>
              <a:rPr lang="fr-FR" dirty="0"/>
              <a:t>Affichage des volumes </a:t>
            </a:r>
            <a:r>
              <a:rPr lang="fr-FR" dirty="0" err="1"/>
              <a:t>Cinder</a:t>
            </a:r>
            <a:endParaRPr lang="fr-FR" dirty="0"/>
          </a:p>
          <a:p>
            <a:r>
              <a:rPr lang="fr-FR" dirty="0"/>
              <a:t>Sélection d’un volume</a:t>
            </a:r>
          </a:p>
          <a:p>
            <a:r>
              <a:rPr lang="fr-FR" dirty="0"/>
              <a:t>Définition de la fréquence de </a:t>
            </a:r>
            <a:r>
              <a:rPr lang="fr-FR" dirty="0" err="1"/>
              <a:t>snapshot</a:t>
            </a:r>
            <a:endParaRPr lang="fr-FR" dirty="0"/>
          </a:p>
          <a:p>
            <a:r>
              <a:rPr lang="fr-FR" dirty="0"/>
              <a:t>Planification automatique des </a:t>
            </a:r>
            <a:r>
              <a:rPr lang="fr-FR" dirty="0" err="1"/>
              <a:t>snapshots</a:t>
            </a:r>
            <a:endParaRPr lang="fr-FR" dirty="0"/>
          </a:p>
          <a:p>
            <a:r>
              <a:rPr lang="fr-FR" dirty="0"/>
              <a:t>Restauration via </a:t>
            </a:r>
            <a:r>
              <a:rPr lang="fr-FR" dirty="0" err="1"/>
              <a:t>snapshot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308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79401"/>
            <a:ext cx="8596668" cy="1320800"/>
          </a:xfrm>
        </p:spPr>
        <p:txBody>
          <a:bodyPr/>
          <a:lstStyle/>
          <a:p>
            <a:pPr algn="ctr"/>
            <a:r>
              <a:rPr lang="fr-FR" dirty="0" smtClean="0"/>
              <a:t>BESOINS NON FONCTIONNELS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821382"/>
          </a:xfrm>
        </p:spPr>
        <p:txBody>
          <a:bodyPr>
            <a:normAutofit/>
          </a:bodyPr>
          <a:lstStyle/>
          <a:p>
            <a:r>
              <a:rPr lang="fr-FR" b="1" dirty="0"/>
              <a:t>Sécurité</a:t>
            </a:r>
            <a:r>
              <a:rPr lang="fr-FR" dirty="0"/>
              <a:t> : assurer la confidentialité et l’intégrité des données stockées.</a:t>
            </a:r>
          </a:p>
          <a:p>
            <a:r>
              <a:rPr lang="fr-FR" b="1" dirty="0"/>
              <a:t>Disponibilité</a:t>
            </a:r>
            <a:r>
              <a:rPr lang="fr-FR" dirty="0"/>
              <a:t> : garantir l’accès aux volumes même après un incident.</a:t>
            </a:r>
          </a:p>
          <a:p>
            <a:r>
              <a:rPr lang="fr-FR" b="1" dirty="0"/>
              <a:t>Performance</a:t>
            </a:r>
            <a:r>
              <a:rPr lang="fr-FR" dirty="0"/>
              <a:t> : permettre des opérations rapides de création et d’accès aux volumes.</a:t>
            </a:r>
          </a:p>
          <a:p>
            <a:r>
              <a:rPr lang="fr-FR" b="1" dirty="0"/>
              <a:t>Fiabilité</a:t>
            </a:r>
            <a:r>
              <a:rPr lang="fr-FR" dirty="0"/>
              <a:t> : limiter les risques de perte de données.</a:t>
            </a:r>
          </a:p>
          <a:p>
            <a:r>
              <a:rPr lang="fr-FR" b="1" dirty="0" err="1"/>
              <a:t>Scalabilité</a:t>
            </a:r>
            <a:r>
              <a:rPr lang="fr-FR" dirty="0"/>
              <a:t> : permettre l’évolution du système vers un plus grand nombre de volumes et d’instances.</a:t>
            </a:r>
          </a:p>
          <a:p>
            <a:r>
              <a:rPr lang="fr-FR" b="1" dirty="0"/>
              <a:t>Maintenabilité</a:t>
            </a:r>
            <a:r>
              <a:rPr lang="fr-FR" dirty="0"/>
              <a:t> : faciliter l’administration et l’exploitation du système.</a:t>
            </a:r>
          </a:p>
          <a:p>
            <a:r>
              <a:rPr lang="fr-FR" b="1" dirty="0"/>
              <a:t>Documentation</a:t>
            </a:r>
            <a:r>
              <a:rPr lang="fr-FR" dirty="0"/>
              <a:t> : fournir une documentation technique et utilisateur claire et complète.</a:t>
            </a:r>
          </a:p>
        </p:txBody>
      </p:sp>
    </p:spTree>
    <p:extLst>
      <p:ext uri="{BB962C8B-B14F-4D97-AF65-F5344CB8AC3E}">
        <p14:creationId xmlns:p14="http://schemas.microsoft.com/office/powerpoint/2010/main" val="2050780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6000" dirty="0" smtClean="0"/>
              <a:t>MODELISATION DU SYSTEME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943137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CHOIX DU MODELE (MERISE ou UML)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16352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	Le </a:t>
            </a:r>
            <a:r>
              <a:rPr lang="fr-FR" dirty="0"/>
              <a:t>modèle </a:t>
            </a:r>
            <a:r>
              <a:rPr lang="fr-FR" b="1" dirty="0"/>
              <a:t>UML (</a:t>
            </a:r>
            <a:r>
              <a:rPr lang="fr-FR" b="1" dirty="0" err="1"/>
              <a:t>Unified</a:t>
            </a:r>
            <a:r>
              <a:rPr lang="fr-FR" b="1" dirty="0"/>
              <a:t> </a:t>
            </a:r>
            <a:r>
              <a:rPr lang="fr-FR" b="1" dirty="0" err="1"/>
              <a:t>Modeling</a:t>
            </a:r>
            <a:r>
              <a:rPr lang="fr-FR" b="1" dirty="0"/>
              <a:t> </a:t>
            </a:r>
            <a:r>
              <a:rPr lang="fr-FR" b="1" dirty="0" err="1"/>
              <a:t>Language</a:t>
            </a:r>
            <a:r>
              <a:rPr lang="fr-FR" b="1" dirty="0"/>
              <a:t>)</a:t>
            </a:r>
            <a:r>
              <a:rPr lang="fr-FR" dirty="0"/>
              <a:t> est retenu pour ce projet.</a:t>
            </a:r>
            <a:br>
              <a:rPr lang="fr-FR" dirty="0"/>
            </a:br>
            <a:r>
              <a:rPr lang="fr-FR" dirty="0"/>
              <a:t>UML permet de représenter de manière claire et structurée :</a:t>
            </a:r>
          </a:p>
          <a:p>
            <a:r>
              <a:rPr lang="fr-FR" dirty="0"/>
              <a:t>les acteurs du système,</a:t>
            </a:r>
          </a:p>
          <a:p>
            <a:r>
              <a:rPr lang="fr-FR" dirty="0"/>
              <a:t>les interactions entre </a:t>
            </a:r>
            <a:r>
              <a:rPr lang="fr-FR" dirty="0" err="1"/>
              <a:t>Cinder</a:t>
            </a:r>
            <a:r>
              <a:rPr lang="fr-FR" dirty="0"/>
              <a:t>, </a:t>
            </a:r>
            <a:r>
              <a:rPr lang="fr-FR" dirty="0" err="1"/>
              <a:t>Barbican</a:t>
            </a:r>
            <a:r>
              <a:rPr lang="fr-FR" dirty="0"/>
              <a:t> et les utilisateurs,</a:t>
            </a:r>
          </a:p>
          <a:p>
            <a:r>
              <a:rPr lang="fr-FR" dirty="0"/>
              <a:t>les différents cas d’utilisation liés à la gestion du stockage.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smtClean="0"/>
              <a:t>Ce </a:t>
            </a:r>
            <a:r>
              <a:rPr lang="fr-FR" dirty="0"/>
              <a:t>choix est adapté à la complexité du projet et facilite la compréhension globale du fonctionnement du système.</a:t>
            </a:r>
          </a:p>
        </p:txBody>
      </p:sp>
    </p:spTree>
    <p:extLst>
      <p:ext uri="{BB962C8B-B14F-4D97-AF65-F5344CB8AC3E}">
        <p14:creationId xmlns:p14="http://schemas.microsoft.com/office/powerpoint/2010/main" val="2417340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224220"/>
            <a:ext cx="8596668" cy="942428"/>
          </a:xfrm>
        </p:spPr>
        <p:txBody>
          <a:bodyPr/>
          <a:lstStyle/>
          <a:p>
            <a:pPr algn="ctr"/>
            <a:r>
              <a:rPr lang="fr-FR" dirty="0" smtClean="0"/>
              <a:t>DESCRIPTION TEXTUELLE DU SYSTEME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166648"/>
            <a:ext cx="8596668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	Le </a:t>
            </a:r>
            <a:r>
              <a:rPr lang="fr-FR" dirty="0"/>
              <a:t>système repose sur une infrastructure </a:t>
            </a:r>
            <a:r>
              <a:rPr lang="fr-FR" dirty="0" err="1"/>
              <a:t>cloud</a:t>
            </a:r>
            <a:r>
              <a:rPr lang="fr-FR" dirty="0"/>
              <a:t> </a:t>
            </a:r>
            <a:r>
              <a:rPr lang="fr-FR" dirty="0" err="1"/>
              <a:t>OpenStack</a:t>
            </a:r>
            <a:r>
              <a:rPr lang="fr-FR" dirty="0"/>
              <a:t> intégrant principalement les services </a:t>
            </a:r>
            <a:r>
              <a:rPr lang="fr-FR" b="1" dirty="0" err="1"/>
              <a:t>Cinder</a:t>
            </a:r>
            <a:r>
              <a:rPr lang="fr-FR" dirty="0"/>
              <a:t> et </a:t>
            </a:r>
            <a:r>
              <a:rPr lang="fr-FR" b="1" dirty="0" err="1"/>
              <a:t>Barbican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smtClean="0"/>
              <a:t>		Le </a:t>
            </a:r>
            <a:r>
              <a:rPr lang="fr-FR" dirty="0"/>
              <a:t>système assure </a:t>
            </a:r>
            <a:r>
              <a:rPr lang="fr-FR" dirty="0" smtClean="0"/>
              <a:t>la </a:t>
            </a:r>
            <a:r>
              <a:rPr lang="fr-FR" b="1" dirty="0"/>
              <a:t>prise automatique de </a:t>
            </a:r>
            <a:r>
              <a:rPr lang="fr-FR" b="1" dirty="0" err="1"/>
              <a:t>snapshots</a:t>
            </a:r>
            <a:r>
              <a:rPr lang="fr-FR" dirty="0"/>
              <a:t> des volumes critiques et permet leur </a:t>
            </a:r>
            <a:r>
              <a:rPr lang="fr-FR" b="1" dirty="0"/>
              <a:t>restauration rapide</a:t>
            </a:r>
            <a:r>
              <a:rPr lang="fr-FR" dirty="0"/>
              <a:t> en cas de panne, conformément aux exigences d’un Plan de Reprise d’Activité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 smtClean="0"/>
              <a:t>Décrire les cas d’utilisation reviendrait donc à s’attarder sur :</a:t>
            </a:r>
          </a:p>
          <a:p>
            <a:pPr marL="0" indent="0">
              <a:buNone/>
            </a:pPr>
            <a:endParaRPr lang="fr-FR" b="1" dirty="0"/>
          </a:p>
          <a:p>
            <a:pPr>
              <a:buFont typeface="+mj-lt"/>
              <a:buAutoNum type="arabicPeriod"/>
            </a:pPr>
            <a:r>
              <a:rPr lang="fr-FR" dirty="0" smtClean="0"/>
              <a:t>Configurer un </a:t>
            </a:r>
            <a:r>
              <a:rPr lang="fr-FR" dirty="0" err="1" smtClean="0"/>
              <a:t>snapshot</a:t>
            </a:r>
            <a:r>
              <a:rPr lang="fr-FR" dirty="0" smtClean="0"/>
              <a:t> automatique </a:t>
            </a: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 smtClean="0"/>
              <a:t>Créer automatiquement un </a:t>
            </a:r>
            <a:r>
              <a:rPr lang="fr-FR" dirty="0" err="1" smtClean="0"/>
              <a:t>snapshot</a:t>
            </a: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 smtClean="0"/>
              <a:t>Restaurer un </a:t>
            </a:r>
            <a:r>
              <a:rPr lang="fr-FR" dirty="0" err="1" smtClean="0"/>
              <a:t>snapshot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995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52068"/>
              </p:ext>
            </p:extLst>
          </p:nvPr>
        </p:nvGraphicFramePr>
        <p:xfrm>
          <a:off x="272611" y="103218"/>
          <a:ext cx="9868916" cy="5720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34458"/>
                <a:gridCol w="4934458"/>
              </a:tblGrid>
              <a:tr h="384462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DESCRIPTION D’UN CAS D’UTILISATION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4073">
                <a:tc gridSpan="2">
                  <a:txBody>
                    <a:bodyPr/>
                    <a:lstStyle/>
                    <a:p>
                      <a:pPr>
                        <a:buFont typeface="+mj-lt"/>
                        <a:buNone/>
                      </a:pPr>
                      <a:r>
                        <a:rPr lang="fr-FR" b="1" dirty="0"/>
                        <a:t>CAS D’UTILISATION: </a:t>
                      </a:r>
                      <a:r>
                        <a:rPr lang="fr-FR" sz="1600" dirty="0" smtClean="0"/>
                        <a:t>Configurer un </a:t>
                      </a:r>
                      <a:r>
                        <a:rPr lang="fr-FR" sz="1600" dirty="0" err="1" smtClean="0"/>
                        <a:t>snapshot</a:t>
                      </a:r>
                      <a:r>
                        <a:rPr lang="fr-FR" sz="1600" dirty="0" smtClean="0"/>
                        <a:t> automatique </a:t>
                      </a:r>
                      <a:endParaRPr lang="fr-F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31123">
                <a:tc>
                  <a:txBody>
                    <a:bodyPr/>
                    <a:lstStyle/>
                    <a:p>
                      <a:r>
                        <a:rPr lang="fr-FR" b="1" dirty="0" smtClean="0"/>
                        <a:t>ACTEURS 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PRECONDITIONS</a:t>
                      </a:r>
                      <a:endParaRPr lang="fr-FR" b="1" dirty="0"/>
                    </a:p>
                  </a:txBody>
                  <a:tcPr/>
                </a:tc>
              </a:tr>
              <a:tr h="170064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Utilisateur </a:t>
                      </a:r>
                      <a:r>
                        <a:rPr lang="fr-FR" sz="1600" dirty="0" err="1" smtClean="0"/>
                        <a:t>cloud</a:t>
                      </a:r>
                      <a:r>
                        <a:rPr lang="fr-FR" sz="1600" dirty="0" smtClean="0"/>
                        <a:t> 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utilisateur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authentifié</a:t>
                      </a:r>
                      <a:endParaRPr lang="fr-FR" sz="1600" dirty="0"/>
                    </a:p>
                  </a:txBody>
                  <a:tcPr/>
                </a:tc>
              </a:tr>
              <a:tr h="335577">
                <a:tc>
                  <a:txBody>
                    <a:bodyPr/>
                    <a:lstStyle/>
                    <a:p>
                      <a:r>
                        <a:rPr lang="fr-FR" b="1" dirty="0" smtClean="0"/>
                        <a:t>SCENARIOS PRINCIPAUX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SCENARIOS ALTERNATIFS</a:t>
                      </a:r>
                      <a:endParaRPr lang="fr-FR" b="1" dirty="0"/>
                    </a:p>
                  </a:txBody>
                  <a:tcPr/>
                </a:tc>
              </a:tr>
              <a:tr h="238436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L’utilisateur </a:t>
                      </a:r>
                      <a:r>
                        <a:rPr lang="fr-FR" sz="1600" dirty="0" err="1" smtClean="0"/>
                        <a:t>cloud</a:t>
                      </a:r>
                      <a:r>
                        <a:rPr lang="fr-FR" sz="1600" dirty="0" smtClean="0"/>
                        <a:t> demande la création d’un volume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système authentifie l’utilisateur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err="1" smtClean="0"/>
                        <a:t>Cinder</a:t>
                      </a:r>
                      <a:r>
                        <a:rPr lang="fr-FR" sz="1600" dirty="0" smtClean="0"/>
                        <a:t> traite la requête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Une clé de chiffrement est demandée à </a:t>
                      </a:r>
                      <a:r>
                        <a:rPr lang="fr-FR" sz="1600" dirty="0" err="1" smtClean="0"/>
                        <a:t>Barbican</a:t>
                      </a:r>
                      <a:endParaRPr lang="fr-FR" sz="16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volume chiffré est créé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système notifie l’utilisateur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sz="16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b="1" dirty="0" smtClean="0"/>
                        <a:t>Volume non disponible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b="1" dirty="0" smtClean="0"/>
                        <a:t>Fréquence invalide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46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0001591"/>
              </p:ext>
            </p:extLst>
          </p:nvPr>
        </p:nvGraphicFramePr>
        <p:xfrm>
          <a:off x="283006" y="322120"/>
          <a:ext cx="9193502" cy="52097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96751"/>
                <a:gridCol w="4596751"/>
              </a:tblGrid>
              <a:tr h="384462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DESCRIPTION D’UN CAS D’UTILISATION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4073">
                <a:tc gridSpan="2">
                  <a:txBody>
                    <a:bodyPr/>
                    <a:lstStyle/>
                    <a:p>
                      <a:pPr>
                        <a:buFont typeface="+mj-lt"/>
                        <a:buNone/>
                      </a:pPr>
                      <a:r>
                        <a:rPr lang="fr-FR" b="1" dirty="0"/>
                        <a:t>CAS D’UTILISATION: </a:t>
                      </a:r>
                      <a:r>
                        <a:rPr lang="fr-FR" sz="1600" dirty="0" smtClean="0"/>
                        <a:t>Créer automatiquement un </a:t>
                      </a:r>
                      <a:r>
                        <a:rPr lang="fr-FR" sz="1600" dirty="0" err="1" smtClean="0"/>
                        <a:t>snapshot</a:t>
                      </a:r>
                      <a:endParaRPr lang="fr-F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31123">
                <a:tc>
                  <a:txBody>
                    <a:bodyPr/>
                    <a:lstStyle/>
                    <a:p>
                      <a:r>
                        <a:rPr lang="fr-FR" b="1" dirty="0" smtClean="0"/>
                        <a:t>ACTEURS 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PRECONDITIONS</a:t>
                      </a:r>
                      <a:endParaRPr lang="fr-FR" b="1" dirty="0"/>
                    </a:p>
                  </a:txBody>
                  <a:tcPr/>
                </a:tc>
              </a:tr>
              <a:tr h="151499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Scheduler</a:t>
                      </a:r>
                      <a:endParaRPr lang="fr-FR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configuration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existante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fr-FR" sz="1600" dirty="0"/>
                    </a:p>
                  </a:txBody>
                  <a:tcPr/>
                </a:tc>
              </a:tr>
              <a:tr h="335577">
                <a:tc>
                  <a:txBody>
                    <a:bodyPr/>
                    <a:lstStyle/>
                    <a:p>
                      <a:r>
                        <a:rPr lang="fr-FR" b="1" dirty="0" smtClean="0"/>
                        <a:t>SCENARIOS PRINCIPAUX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SCENARIOS ALTERNATIFS</a:t>
                      </a:r>
                      <a:endParaRPr lang="fr-FR" b="1" dirty="0"/>
                    </a:p>
                  </a:txBody>
                  <a:tcPr/>
                </a:tc>
              </a:tr>
              <a:tr h="220465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</a:t>
                      </a:r>
                      <a:r>
                        <a:rPr lang="fr-FR" sz="1600" dirty="0" err="1" smtClean="0"/>
                        <a:t>scheduler</a:t>
                      </a:r>
                      <a:r>
                        <a:rPr lang="fr-FR" sz="1600" dirty="0" smtClean="0"/>
                        <a:t> déclenche la tâche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Appel à </a:t>
                      </a:r>
                      <a:r>
                        <a:rPr lang="fr-FR" sz="1600" dirty="0" err="1" smtClean="0"/>
                        <a:t>Cinder</a:t>
                      </a:r>
                      <a:r>
                        <a:rPr lang="fr-FR" sz="1600" dirty="0" smtClean="0"/>
                        <a:t> API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err="1" smtClean="0"/>
                        <a:t>Snapshot</a:t>
                      </a:r>
                      <a:r>
                        <a:rPr lang="fr-FR" sz="1600" dirty="0" smtClean="0"/>
                        <a:t> créé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A1 : Volume indisponible</a:t>
                      </a:r>
                      <a:r>
                        <a:rPr lang="fr-FR" sz="1600" dirty="0" smtClean="0"/>
                        <a:t/>
                      </a:r>
                      <a:br>
                        <a:rPr lang="fr-FR" sz="1600" dirty="0" smtClean="0"/>
                      </a:br>
                      <a:r>
                        <a:rPr lang="fr-FR" sz="1600" dirty="0" smtClean="0"/>
                        <a:t>→ Le </a:t>
                      </a:r>
                      <a:r>
                        <a:rPr lang="fr-FR" sz="1600" dirty="0" err="1" smtClean="0"/>
                        <a:t>snapshot</a:t>
                      </a:r>
                      <a:r>
                        <a:rPr lang="fr-FR" sz="1600" dirty="0" smtClean="0"/>
                        <a:t> est reporté.</a:t>
                      </a:r>
                    </a:p>
                    <a:p>
                      <a:r>
                        <a:rPr lang="fr-FR" sz="1600" b="1" dirty="0" smtClean="0"/>
                        <a:t>A2 : Espace insuffisant</a:t>
                      </a:r>
                      <a:r>
                        <a:rPr lang="fr-FR" sz="1600" dirty="0" smtClean="0"/>
                        <a:t/>
                      </a:r>
                      <a:br>
                        <a:rPr lang="fr-FR" sz="1600" dirty="0" smtClean="0"/>
                      </a:br>
                      <a:r>
                        <a:rPr lang="fr-FR" sz="1600" dirty="0" smtClean="0"/>
                        <a:t>→ L’opération échoue avec notification</a:t>
                      </a:r>
                      <a:endParaRPr lang="fr-FR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655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443043"/>
              </p:ext>
            </p:extLst>
          </p:nvPr>
        </p:nvGraphicFramePr>
        <p:xfrm>
          <a:off x="314178" y="477984"/>
          <a:ext cx="9193502" cy="55543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96751"/>
                <a:gridCol w="4596751"/>
              </a:tblGrid>
              <a:tr h="384462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DESCRIPTION D’UN CAS D’UTILISATION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4073">
                <a:tc gridSpan="2">
                  <a:txBody>
                    <a:bodyPr/>
                    <a:lstStyle/>
                    <a:p>
                      <a:r>
                        <a:rPr lang="fr-FR" b="1" dirty="0"/>
                        <a:t>CAS D’UTILISATION: </a:t>
                      </a:r>
                      <a:r>
                        <a:rPr lang="fr-FR" sz="1600" dirty="0" smtClean="0"/>
                        <a:t>Restaurer un </a:t>
                      </a:r>
                      <a:r>
                        <a:rPr lang="fr-FR" sz="1600" dirty="0" err="1" smtClean="0"/>
                        <a:t>snapshot</a:t>
                      </a:r>
                      <a:endParaRPr lang="fr-FR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41267">
                <a:tc gridSpan="2">
                  <a:txBody>
                    <a:bodyPr/>
                    <a:lstStyle/>
                    <a:p>
                      <a:pPr marL="0" marR="0" lvl="0" indent="0" algn="l" defTabSz="342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DESCRIPTION: </a:t>
                      </a:r>
                      <a:r>
                        <a:rPr lang="fr-FR" sz="1600" dirty="0" smtClean="0"/>
                        <a:t>Ce cas d’utilisation permet à l’utilisateur de restaurer un volume à partir d’un </a:t>
                      </a:r>
                      <a:r>
                        <a:rPr lang="fr-FR" sz="1600" dirty="0" err="1" smtClean="0"/>
                        <a:t>snapshot</a:t>
                      </a:r>
                      <a:r>
                        <a:rPr lang="fr-FR" sz="1600" dirty="0" smtClean="0"/>
                        <a:t> existant, manuellement ou automatiquement via le PRA..</a:t>
                      </a:r>
                      <a:endParaRPr lang="fr-FR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31123">
                <a:tc>
                  <a:txBody>
                    <a:bodyPr/>
                    <a:lstStyle/>
                    <a:p>
                      <a:r>
                        <a:rPr lang="fr-FR" b="1" dirty="0" smtClean="0"/>
                        <a:t>ACTEURS 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PRECONDITIONS</a:t>
                      </a:r>
                      <a:endParaRPr lang="fr-FR" b="1" dirty="0"/>
                    </a:p>
                  </a:txBody>
                  <a:tcPr/>
                </a:tc>
              </a:tr>
              <a:tr h="1137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Utilisateur </a:t>
                      </a:r>
                      <a:r>
                        <a:rPr lang="fr-FR" sz="1600" dirty="0" err="1" smtClean="0"/>
                        <a:t>cloud</a:t>
                      </a:r>
                      <a:endParaRPr lang="fr-FR" sz="160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Système 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Un </a:t>
                      </a:r>
                      <a:r>
                        <a:rPr lang="fr-FR" sz="1600" dirty="0" err="1" smtClean="0"/>
                        <a:t>snapshot</a:t>
                      </a:r>
                      <a:r>
                        <a:rPr lang="fr-FR" sz="1600" dirty="0" smtClean="0"/>
                        <a:t> valide existe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</a:t>
                      </a:r>
                      <a:r>
                        <a:rPr lang="fr-FR" sz="1600" dirty="0" err="1" smtClean="0"/>
                        <a:t>backend</a:t>
                      </a:r>
                      <a:r>
                        <a:rPr lang="fr-FR" sz="1600" dirty="0" smtClean="0"/>
                        <a:t> de stockage est disponible</a:t>
                      </a:r>
                      <a:endParaRPr lang="fr-FR" sz="1600" dirty="0"/>
                    </a:p>
                  </a:txBody>
                  <a:tcPr/>
                </a:tc>
              </a:tr>
              <a:tr h="335577">
                <a:tc>
                  <a:txBody>
                    <a:bodyPr/>
                    <a:lstStyle/>
                    <a:p>
                      <a:r>
                        <a:rPr lang="fr-FR" b="1" dirty="0" smtClean="0"/>
                        <a:t>SCENARIOS PRINCIPAUX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SCENARIOS ALTERNATIFS</a:t>
                      </a:r>
                      <a:endParaRPr lang="fr-FR" b="1" dirty="0"/>
                    </a:p>
                  </a:txBody>
                  <a:tcPr/>
                </a:tc>
              </a:tr>
              <a:tr h="64126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Un incident est détecté.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L’utilisateur déclenche la restauration via le plan de reprise d’activité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err="1" smtClean="0"/>
                        <a:t>Cinder</a:t>
                      </a:r>
                      <a:r>
                        <a:rPr lang="fr-FR" sz="1600" dirty="0" smtClean="0"/>
                        <a:t> crée un nouveau volume à partir du </a:t>
                      </a:r>
                      <a:r>
                        <a:rPr lang="fr-FR" sz="1600" dirty="0" err="1" smtClean="0"/>
                        <a:t>snapshot</a:t>
                      </a:r>
                      <a:r>
                        <a:rPr lang="fr-FR" sz="1600" dirty="0" smtClean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volume est rendu disponible.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 smtClean="0"/>
                        <a:t>Le volume est attaché à une instance de remplacement.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A1 : </a:t>
                      </a:r>
                      <a:r>
                        <a:rPr lang="fr-FR" sz="1600" b="1" dirty="0" err="1" smtClean="0"/>
                        <a:t>Snapshot</a:t>
                      </a:r>
                      <a:r>
                        <a:rPr lang="fr-FR" sz="1600" b="1" dirty="0" smtClean="0"/>
                        <a:t> corrompu</a:t>
                      </a:r>
                      <a:r>
                        <a:rPr lang="fr-FR" sz="1600" dirty="0" smtClean="0"/>
                        <a:t/>
                      </a:r>
                      <a:br>
                        <a:rPr lang="fr-FR" sz="1600" dirty="0" smtClean="0"/>
                      </a:br>
                      <a:r>
                        <a:rPr lang="fr-FR" sz="1600" dirty="0" smtClean="0"/>
                        <a:t>→ Restauration annulée et alerte envoyée.</a:t>
                      </a:r>
                    </a:p>
                    <a:p>
                      <a:r>
                        <a:rPr lang="fr-FR" sz="1600" b="1" dirty="0" smtClean="0"/>
                        <a:t>A2 : </a:t>
                      </a:r>
                      <a:r>
                        <a:rPr lang="fr-FR" sz="1600" b="1" dirty="0" err="1" smtClean="0"/>
                        <a:t>Backend</a:t>
                      </a:r>
                      <a:r>
                        <a:rPr lang="fr-FR" sz="1600" b="1" dirty="0" smtClean="0"/>
                        <a:t> indisponible</a:t>
                      </a:r>
                      <a:r>
                        <a:rPr lang="fr-FR" sz="1600" dirty="0" smtClean="0"/>
                        <a:t/>
                      </a:r>
                      <a:br>
                        <a:rPr lang="fr-FR" sz="1600" dirty="0" smtClean="0"/>
                      </a:br>
                      <a:r>
                        <a:rPr lang="fr-FR" sz="1600" dirty="0" smtClean="0"/>
                        <a:t>→ Restauration reportée.</a:t>
                      </a:r>
                      <a:endParaRPr lang="fr-FR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311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0852" y="0"/>
            <a:ext cx="8596668" cy="1320800"/>
          </a:xfrm>
        </p:spPr>
        <p:txBody>
          <a:bodyPr/>
          <a:lstStyle/>
          <a:p>
            <a:pPr algn="ctr"/>
            <a:r>
              <a:rPr lang="fr-FR" dirty="0" smtClean="0"/>
              <a:t>DIAGRAMME DE CAS D’UTILISATION 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99" y="660400"/>
            <a:ext cx="9403773" cy="5985163"/>
          </a:xfrm>
        </p:spPr>
      </p:pic>
    </p:spTree>
    <p:extLst>
      <p:ext uri="{BB962C8B-B14F-4D97-AF65-F5344CB8AC3E}">
        <p14:creationId xmlns:p14="http://schemas.microsoft.com/office/powerpoint/2010/main" val="2102463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CONCLUSION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867857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0062" y="2143636"/>
            <a:ext cx="8997229" cy="2159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fr-FR" dirty="0" smtClean="0"/>
              <a:t>	Le </a:t>
            </a:r>
            <a:r>
              <a:rPr lang="fr-FR" dirty="0"/>
              <a:t>projet de gestion du stockage en blocs avec </a:t>
            </a:r>
            <a:r>
              <a:rPr lang="fr-FR" b="1" dirty="0" err="1"/>
              <a:t>Cinder</a:t>
            </a:r>
            <a:r>
              <a:rPr lang="fr-FR" dirty="0"/>
              <a:t>, enrichi par l’intégration de </a:t>
            </a:r>
            <a:r>
              <a:rPr lang="fr-FR" b="1" dirty="0" err="1"/>
              <a:t>Barbican</a:t>
            </a:r>
            <a:r>
              <a:rPr lang="fr-FR" dirty="0"/>
              <a:t> et l’automatisation du </a:t>
            </a:r>
            <a:r>
              <a:rPr lang="fr-FR" b="1" dirty="0"/>
              <a:t>Plan de Reprise d’Activité</a:t>
            </a:r>
            <a:r>
              <a:rPr lang="fr-FR" dirty="0"/>
              <a:t>, répond aux besoins croissants de sécurité et de fiabilité des environnements </a:t>
            </a:r>
            <a:r>
              <a:rPr lang="fr-FR" dirty="0" err="1"/>
              <a:t>cloud</a:t>
            </a:r>
            <a:r>
              <a:rPr lang="fr-FR" dirty="0"/>
              <a:t> modernes.</a:t>
            </a:r>
          </a:p>
          <a:p>
            <a:pPr marL="0" indent="0">
              <a:buNone/>
            </a:pPr>
            <a:r>
              <a:rPr lang="fr-FR" dirty="0" smtClean="0"/>
              <a:t>	Ce </a:t>
            </a:r>
            <a:r>
              <a:rPr lang="fr-FR" dirty="0"/>
              <a:t>cahier d’analyse a permis d’identifier les besoins, les contraintes et les fonctionnalités essentielles du système. Il constitue une base solide pour les phases suivantes du projet, notamment la </a:t>
            </a:r>
            <a:r>
              <a:rPr lang="fr-FR" b="1" dirty="0"/>
              <a:t>conception détaillée</a:t>
            </a:r>
            <a:r>
              <a:rPr lang="fr-FR" dirty="0"/>
              <a:t>, le </a:t>
            </a:r>
            <a:r>
              <a:rPr lang="fr-FR" b="1" dirty="0"/>
              <a:t>développement</a:t>
            </a:r>
            <a:r>
              <a:rPr lang="fr-FR" dirty="0"/>
              <a:t> et le </a:t>
            </a:r>
            <a:r>
              <a:rPr lang="fr-FR" b="1" dirty="0"/>
              <a:t>déploiement</a:t>
            </a:r>
            <a:r>
              <a:rPr lang="fr-FR" dirty="0"/>
              <a:t> de la solution.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7809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712</TotalTime>
  <Words>410</Words>
  <Application>Microsoft Office PowerPoint</Application>
  <PresentationFormat>Grand écran</PresentationFormat>
  <Paragraphs>118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Facette</vt:lpstr>
      <vt:lpstr>GESTION DU STOCKAGE EN BLOC AVEC CINDER </vt:lpstr>
      <vt:lpstr>PLAN </vt:lpstr>
      <vt:lpstr>INTRODUCTION </vt:lpstr>
      <vt:lpstr>CONTEXTE   </vt:lpstr>
      <vt:lpstr>Présentation PowerPoint</vt:lpstr>
      <vt:lpstr>JUSTIFICATION</vt:lpstr>
      <vt:lpstr>Présentation PowerPoint</vt:lpstr>
      <vt:lpstr>BESOINS FONCTIONNELS </vt:lpstr>
      <vt:lpstr>BESOINS NON FONCTIONNELS </vt:lpstr>
      <vt:lpstr>MODELISATION DU SYSTEME</vt:lpstr>
      <vt:lpstr>CHOIX DU MODELE (MERISE ou UML)</vt:lpstr>
      <vt:lpstr>DESCRIPTION TEXTUELLE DU SYSTEME</vt:lpstr>
      <vt:lpstr>Présentation PowerPoint</vt:lpstr>
      <vt:lpstr>Présentation PowerPoint</vt:lpstr>
      <vt:lpstr>Présentation PowerPoint</vt:lpstr>
      <vt:lpstr>DIAGRAMME DE CAS D’UTILISATION 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DU STOCKAGE EN BLOC AVEC CINDER</dc:title>
  <dc:creator>HP</dc:creator>
  <cp:lastModifiedBy>HP</cp:lastModifiedBy>
  <cp:revision>31</cp:revision>
  <dcterms:created xsi:type="dcterms:W3CDTF">2025-10-11T10:13:46Z</dcterms:created>
  <dcterms:modified xsi:type="dcterms:W3CDTF">2026-03-26T00:59:47Z</dcterms:modified>
</cp:coreProperties>
</file>