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83" r:id="rId7"/>
    <p:sldId id="262" r:id="rId8"/>
    <p:sldId id="276" r:id="rId9"/>
    <p:sldId id="265" r:id="rId10"/>
    <p:sldId id="286" r:id="rId11"/>
    <p:sldId id="284" r:id="rId12"/>
    <p:sldId id="287" r:id="rId13"/>
    <p:sldId id="285" r:id="rId14"/>
    <p:sldId id="292" r:id="rId15"/>
    <p:sldId id="291" r:id="rId16"/>
    <p:sldId id="289" r:id="rId17"/>
    <p:sldId id="28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9382" y="1558632"/>
            <a:ext cx="10027227" cy="1692100"/>
          </a:xfrm>
        </p:spPr>
        <p:txBody>
          <a:bodyPr/>
          <a:lstStyle/>
          <a:p>
            <a:pPr algn="ctr"/>
            <a:r>
              <a:rPr lang="fr-FR" dirty="0" smtClean="0"/>
              <a:t>GESTION DU STOCKAGE EN BLOC AVEC CINDER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713649"/>
          </a:xfrm>
        </p:spPr>
        <p:txBody>
          <a:bodyPr>
            <a:normAutofit lnSpcReduction="10000"/>
          </a:bodyPr>
          <a:lstStyle/>
          <a:p>
            <a:pPr algn="ctr"/>
            <a:endParaRPr lang="fr-FR" dirty="0" smtClean="0"/>
          </a:p>
          <a:p>
            <a:pPr algn="ctr"/>
            <a:r>
              <a:rPr lang="fr-FR" dirty="0" smtClean="0"/>
              <a:t>Rédigé et Présenté par </a:t>
            </a:r>
            <a:r>
              <a:rPr lang="fr-FR" b="1" dirty="0" smtClean="0"/>
              <a:t>DZOUAKEU FESSI Emmanuella Cindy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dirty="0" smtClean="0"/>
              <a:t>Sous la supervision de : M. NGUIMBUS Emmanuel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8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 smtClean="0"/>
              <a:t>PLAN 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INTRODUCTION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CONTEXTE ET JUSTIFICATION DU PROJET 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ARCHITECTURE GENERALE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DIAGRAMMES</a:t>
            </a:r>
          </a:p>
          <a:p>
            <a:pPr marL="0" indent="0">
              <a:buNone/>
            </a:pPr>
            <a:r>
              <a:rPr lang="fr-FR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36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dirty="0"/>
              <a:t>	Le cahier de conception constitue la transition entre l’analyse et la réalisation</a:t>
            </a:r>
            <a:r>
              <a:rPr lang="fr-FR" dirty="0" smtClean="0"/>
              <a:t>. Il </a:t>
            </a:r>
            <a:r>
              <a:rPr lang="fr-FR" dirty="0"/>
              <a:t>a pour rôle de </a:t>
            </a:r>
            <a:r>
              <a:rPr lang="fr-FR" dirty="0" smtClean="0"/>
              <a:t>: traduire </a:t>
            </a:r>
            <a:r>
              <a:rPr lang="fr-FR" dirty="0"/>
              <a:t>les besoins fonctionnels en solutions techniques</a:t>
            </a:r>
            <a:r>
              <a:rPr lang="fr-FR" dirty="0" smtClean="0"/>
              <a:t>, définir </a:t>
            </a:r>
            <a:r>
              <a:rPr lang="fr-FR" dirty="0"/>
              <a:t>l’architecture du système</a:t>
            </a:r>
            <a:r>
              <a:rPr lang="fr-FR" dirty="0" smtClean="0"/>
              <a:t>, décrire </a:t>
            </a:r>
            <a:r>
              <a:rPr lang="fr-FR" dirty="0"/>
              <a:t>le fonctionnement interne des composants</a:t>
            </a:r>
            <a:r>
              <a:rPr lang="fr-FR" dirty="0" smtClean="0"/>
              <a:t>, servir </a:t>
            </a:r>
            <a:r>
              <a:rPr lang="fr-FR" dirty="0"/>
              <a:t>de référence technique pour le développement et le déploiement</a:t>
            </a:r>
            <a:r>
              <a:rPr lang="fr-FR" dirty="0" smtClean="0"/>
              <a:t>. </a:t>
            </a:r>
          </a:p>
          <a:p>
            <a:pPr marL="0" indent="0" algn="just">
              <a:buNone/>
            </a:pPr>
            <a:r>
              <a:rPr lang="fr-FR" dirty="0"/>
              <a:t>	</a:t>
            </a:r>
            <a:r>
              <a:rPr lang="fr-FR" dirty="0" smtClean="0"/>
              <a:t>Dans </a:t>
            </a:r>
            <a:r>
              <a:rPr lang="fr-FR" dirty="0"/>
              <a:t>le cadre de ce projet, le cahier de conception permet de structurer une solution fiable de gestion de stockage en blocs avec </a:t>
            </a:r>
            <a:r>
              <a:rPr lang="fr-FR" dirty="0" err="1"/>
              <a:t>Cinder</a:t>
            </a:r>
            <a:r>
              <a:rPr lang="fr-FR" dirty="0"/>
              <a:t>, intégrant </a:t>
            </a:r>
            <a:r>
              <a:rPr lang="fr-FR" dirty="0" smtClean="0"/>
              <a:t>: le </a:t>
            </a:r>
            <a:r>
              <a:rPr lang="fr-FR" dirty="0"/>
              <a:t>chiffrement sécurisé des volumes via </a:t>
            </a:r>
            <a:r>
              <a:rPr lang="fr-FR" dirty="0" err="1"/>
              <a:t>Barbican</a:t>
            </a:r>
            <a:r>
              <a:rPr lang="fr-FR" dirty="0" smtClean="0"/>
              <a:t>, l’automatisation </a:t>
            </a:r>
            <a:r>
              <a:rPr lang="fr-FR" dirty="0"/>
              <a:t>du Plan de Reprise d’Activité (PRA).</a:t>
            </a:r>
          </a:p>
        </p:txBody>
      </p:sp>
    </p:spTree>
    <p:extLst>
      <p:ext uri="{BB962C8B-B14F-4D97-AF65-F5344CB8AC3E}">
        <p14:creationId xmlns:p14="http://schemas.microsoft.com/office/powerpoint/2010/main" val="275102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CONTEXTE   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58323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357351"/>
            <a:ext cx="8596668" cy="82434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299580"/>
            <a:ext cx="8596668" cy="47590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/>
              <a:t>	Dans les infrastructures </a:t>
            </a:r>
            <a:r>
              <a:rPr lang="fr-FR" dirty="0" err="1"/>
              <a:t>cloud</a:t>
            </a:r>
            <a:r>
              <a:rPr lang="fr-FR" dirty="0"/>
              <a:t> basées sur </a:t>
            </a:r>
            <a:r>
              <a:rPr lang="fr-FR" dirty="0" err="1"/>
              <a:t>OpenStack</a:t>
            </a:r>
            <a:r>
              <a:rPr lang="fr-FR" dirty="0"/>
              <a:t>, les machines virtuelles nécessitent un stockage persistant pour héberger les systèmes, applications et données </a:t>
            </a:r>
            <a:r>
              <a:rPr lang="fr-FR" dirty="0" err="1"/>
              <a:t>critiques.Le</a:t>
            </a:r>
            <a:r>
              <a:rPr lang="fr-FR" dirty="0"/>
              <a:t> service </a:t>
            </a:r>
            <a:r>
              <a:rPr lang="fr-FR" dirty="0" err="1"/>
              <a:t>Cinder</a:t>
            </a:r>
            <a:r>
              <a:rPr lang="fr-FR" dirty="0"/>
              <a:t> permet de fournir ce stockage sous forme de volumes en blocs, </a:t>
            </a:r>
            <a:r>
              <a:rPr lang="fr-FR" dirty="0" err="1"/>
              <a:t>attachables</a:t>
            </a:r>
            <a:r>
              <a:rPr lang="fr-FR" dirty="0"/>
              <a:t> dynamiquement aux instances.</a:t>
            </a:r>
          </a:p>
          <a:p>
            <a:pPr marL="0" indent="0" algn="just">
              <a:buNone/>
            </a:pPr>
            <a:r>
              <a:rPr lang="fr-FR" dirty="0"/>
              <a:t>	Cependant, dans de nombreux environnements, la gestion de ces volumes reste : </a:t>
            </a:r>
          </a:p>
          <a:p>
            <a:pPr algn="just"/>
            <a:r>
              <a:rPr lang="fr-FR" dirty="0"/>
              <a:t>partiellement manuelle,</a:t>
            </a:r>
          </a:p>
          <a:p>
            <a:pPr algn="just"/>
            <a:r>
              <a:rPr lang="fr-FR" dirty="0"/>
              <a:t>insuffisamment sécurisée,</a:t>
            </a:r>
          </a:p>
          <a:p>
            <a:pPr algn="just"/>
            <a:r>
              <a:rPr lang="fr-FR" dirty="0"/>
              <a:t>peu intégrée aux stratégies de continuité d’activité.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De plus, l’absence d’automatisation dans la gestion des </a:t>
            </a:r>
            <a:r>
              <a:rPr lang="fr-FR" dirty="0" err="1"/>
              <a:t>snapshots</a:t>
            </a:r>
            <a:r>
              <a:rPr lang="fr-FR" dirty="0"/>
              <a:t> et des restaurations complique la mise en œuvre efficace d’un Plan de Reprise d’Activité, augmentant ainsi les risques liés aux pannes ou aux pertes de données..</a:t>
            </a:r>
          </a:p>
        </p:txBody>
      </p:sp>
    </p:spTree>
    <p:extLst>
      <p:ext uri="{BB962C8B-B14F-4D97-AF65-F5344CB8AC3E}">
        <p14:creationId xmlns:p14="http://schemas.microsoft.com/office/powerpoint/2010/main" val="412576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6000" dirty="0" smtClean="0"/>
              <a:t>ARCHITECTURE GENERALE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01947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79401"/>
            <a:ext cx="8596668" cy="1320800"/>
          </a:xfrm>
        </p:spPr>
        <p:txBody>
          <a:bodyPr/>
          <a:lstStyle/>
          <a:p>
            <a:pPr algn="ctr"/>
            <a:r>
              <a:rPr lang="fr-FR" dirty="0" smtClean="0"/>
              <a:t>OBJECTIFS DE L’ARCHITECTURE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821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	L’architecture </a:t>
            </a:r>
            <a:r>
              <a:rPr lang="fr-FR" dirty="0"/>
              <a:t>générale du système a pour objectif de définir </a:t>
            </a:r>
            <a:r>
              <a:rPr lang="fr-FR" b="1" dirty="0"/>
              <a:t>l’organisation globale de la solution</a:t>
            </a:r>
            <a:r>
              <a:rPr lang="fr-FR" dirty="0"/>
              <a:t>, les </a:t>
            </a:r>
            <a:r>
              <a:rPr lang="fr-FR" b="1" dirty="0"/>
              <a:t>composants techniques impliqués</a:t>
            </a:r>
            <a:r>
              <a:rPr lang="fr-FR" dirty="0"/>
              <a:t>, ainsi que leurs </a:t>
            </a:r>
            <a:r>
              <a:rPr lang="fr-FR" b="1" dirty="0"/>
              <a:t>interactions</a:t>
            </a:r>
            <a:r>
              <a:rPr lang="fr-FR" dirty="0"/>
              <a:t> afin de répondre aux besoins suivants :</a:t>
            </a:r>
          </a:p>
          <a:p>
            <a:r>
              <a:rPr lang="fr-FR" dirty="0"/>
              <a:t>fournir un service de </a:t>
            </a:r>
            <a:r>
              <a:rPr lang="fr-FR" b="1" dirty="0"/>
              <a:t>stockage en blocs fiable</a:t>
            </a:r>
            <a:r>
              <a:rPr lang="fr-FR" dirty="0"/>
              <a:t>,</a:t>
            </a:r>
          </a:p>
          <a:p>
            <a:r>
              <a:rPr lang="fr-FR" dirty="0"/>
              <a:t>garantir la </a:t>
            </a:r>
            <a:r>
              <a:rPr lang="fr-FR" b="1" dirty="0"/>
              <a:t>confidentialité des données</a:t>
            </a:r>
            <a:r>
              <a:rPr lang="fr-FR" dirty="0"/>
              <a:t> via le chiffrement,</a:t>
            </a:r>
          </a:p>
          <a:p>
            <a:r>
              <a:rPr lang="fr-FR" dirty="0"/>
              <a:t>assurer la </a:t>
            </a:r>
            <a:r>
              <a:rPr lang="fr-FR" b="1" dirty="0"/>
              <a:t>continuité de service</a:t>
            </a:r>
            <a:r>
              <a:rPr lang="fr-FR" dirty="0"/>
              <a:t> grâce à un Plan de Reprise d’Activité automatisé,</a:t>
            </a:r>
          </a:p>
          <a:p>
            <a:r>
              <a:rPr lang="fr-FR" dirty="0"/>
              <a:t>maintenir une solution </a:t>
            </a:r>
            <a:r>
              <a:rPr lang="fr-FR" b="1" dirty="0"/>
              <a:t>modulaire, évolutive et sécurisée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smtClean="0"/>
              <a:t>	Cette </a:t>
            </a:r>
            <a:r>
              <a:rPr lang="fr-FR" dirty="0"/>
              <a:t>architecture sert de </a:t>
            </a:r>
            <a:r>
              <a:rPr lang="fr-FR" b="1" dirty="0"/>
              <a:t>référence centrale</a:t>
            </a:r>
            <a:r>
              <a:rPr lang="fr-FR" dirty="0"/>
              <a:t> pour l’ensemble des choix de conception détaillés dans les diagrammes UML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08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31273"/>
          </a:xfrm>
        </p:spPr>
        <p:txBody>
          <a:bodyPr/>
          <a:lstStyle/>
          <a:p>
            <a:pPr algn="ctr"/>
            <a:r>
              <a:rPr lang="fr-FR" dirty="0" smtClean="0"/>
              <a:t>PRINCIPES ARCHITECTURAUX RETENUS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831272"/>
            <a:ext cx="8596668" cy="60267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La conception du système repose sur plusieurs principes fondamentaux </a:t>
            </a:r>
            <a:r>
              <a:rPr lang="fr-FR" dirty="0" smtClean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 smtClean="0"/>
              <a:t>Séparation </a:t>
            </a:r>
            <a:r>
              <a:rPr lang="fr-FR" b="1" dirty="0"/>
              <a:t>des responsabilités</a:t>
            </a:r>
          </a:p>
          <a:p>
            <a:pPr marL="0" indent="0">
              <a:buNone/>
            </a:pPr>
            <a:r>
              <a:rPr lang="fr-FR" dirty="0" smtClean="0"/>
              <a:t>	Chaque </a:t>
            </a:r>
            <a:r>
              <a:rPr lang="fr-FR" dirty="0"/>
              <a:t>composant du système remplit un rôle bien défini (authentification, stockage, chiffrement, orchestration), ce qui facilite :</a:t>
            </a:r>
          </a:p>
          <a:p>
            <a:pPr lvl="1"/>
            <a:r>
              <a:rPr lang="fr-FR" dirty="0"/>
              <a:t>la maintenance,</a:t>
            </a:r>
          </a:p>
          <a:p>
            <a:pPr lvl="1"/>
            <a:r>
              <a:rPr lang="fr-FR" dirty="0"/>
              <a:t>l’évolution,</a:t>
            </a:r>
          </a:p>
          <a:p>
            <a:pPr lvl="1"/>
            <a:r>
              <a:rPr lang="fr-FR" dirty="0"/>
              <a:t>la détection des pannes.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 smtClean="0"/>
              <a:t>Architecture </a:t>
            </a:r>
            <a:r>
              <a:rPr lang="fr-FR" b="1" dirty="0"/>
              <a:t>en couches</a:t>
            </a:r>
          </a:p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système est organisé en </a:t>
            </a:r>
            <a:r>
              <a:rPr lang="fr-FR" b="1" dirty="0"/>
              <a:t>couches fonctionnelles</a:t>
            </a:r>
            <a:r>
              <a:rPr lang="fr-FR" dirty="0"/>
              <a:t>, permettant une indépendance entre :</a:t>
            </a:r>
          </a:p>
          <a:p>
            <a:pPr lvl="1"/>
            <a:r>
              <a:rPr lang="fr-FR" dirty="0"/>
              <a:t>l’interface utilisateur,</a:t>
            </a:r>
          </a:p>
          <a:p>
            <a:pPr lvl="1"/>
            <a:r>
              <a:rPr lang="fr-FR" dirty="0"/>
              <a:t>les services métier,</a:t>
            </a:r>
          </a:p>
          <a:p>
            <a:pPr lvl="1"/>
            <a:r>
              <a:rPr lang="fr-FR" dirty="0"/>
              <a:t>la sécurité,</a:t>
            </a:r>
          </a:p>
          <a:p>
            <a:pPr lvl="1"/>
            <a:r>
              <a:rPr lang="fr-FR" dirty="0"/>
              <a:t>l’infrastructure matérielle.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 smtClean="0"/>
              <a:t>Sécurité </a:t>
            </a:r>
            <a:r>
              <a:rPr lang="fr-FR" b="1" dirty="0"/>
              <a:t>intégrée dès la conception (</a:t>
            </a:r>
            <a:r>
              <a:rPr lang="fr-FR" b="1" i="1" dirty="0"/>
              <a:t>Security by Design</a:t>
            </a:r>
            <a:r>
              <a:rPr lang="fr-FR" b="1" dirty="0"/>
              <a:t>)</a:t>
            </a:r>
          </a:p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chiffrement des volumes et la gestion des clés ne sont pas ajoutés a posteriori, mais intégrés au cœur de l’architecture via </a:t>
            </a:r>
            <a:r>
              <a:rPr lang="fr-FR" dirty="0" err="1"/>
              <a:t>Barbican</a:t>
            </a:r>
            <a:r>
              <a:rPr lang="fr-FR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Automatisation et </a:t>
            </a:r>
            <a:r>
              <a:rPr lang="fr-FR" dirty="0" smtClean="0"/>
              <a:t>résilience</a:t>
            </a:r>
          </a:p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PRA est conçu comme un composant transverse, capable de surveiller l’état du système et d’agir automatiquement en cas d’incident.</a:t>
            </a:r>
          </a:p>
        </p:txBody>
      </p:sp>
    </p:spTree>
    <p:extLst>
      <p:ext uri="{BB962C8B-B14F-4D97-AF65-F5344CB8AC3E}">
        <p14:creationId xmlns:p14="http://schemas.microsoft.com/office/powerpoint/2010/main" val="2050780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195552"/>
            <a:ext cx="8596668" cy="1320800"/>
          </a:xfrm>
        </p:spPr>
        <p:txBody>
          <a:bodyPr/>
          <a:lstStyle/>
          <a:p>
            <a:pPr algn="ctr"/>
            <a:r>
              <a:rPr lang="fr-FR" dirty="0" smtClean="0"/>
              <a:t>VUE GLOBALE DES COUCHES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16352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	L’architecture </a:t>
            </a:r>
            <a:r>
              <a:rPr lang="fr-FR" dirty="0"/>
              <a:t>du système s’appuie sur l’écosystème </a:t>
            </a:r>
            <a:r>
              <a:rPr lang="fr-FR" b="1" dirty="0" err="1"/>
              <a:t>OpenStack</a:t>
            </a:r>
            <a:r>
              <a:rPr lang="fr-FR" dirty="0"/>
              <a:t>, et s’articule autour de </a:t>
            </a:r>
            <a:r>
              <a:rPr lang="fr-FR" b="1" dirty="0"/>
              <a:t>six grandes couches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Couche Présentation</a:t>
            </a:r>
          </a:p>
          <a:p>
            <a:pPr lvl="1"/>
            <a:r>
              <a:rPr lang="fr-FR" dirty="0"/>
              <a:t>Couche Authentification et Sécurité</a:t>
            </a:r>
          </a:p>
          <a:p>
            <a:pPr lvl="1"/>
            <a:r>
              <a:rPr lang="fr-FR" dirty="0"/>
              <a:t>Couche Services de Stockage</a:t>
            </a:r>
          </a:p>
          <a:p>
            <a:pPr lvl="1"/>
            <a:r>
              <a:rPr lang="fr-FR" dirty="0" smtClean="0"/>
              <a:t>Couche </a:t>
            </a:r>
            <a:r>
              <a:rPr lang="fr-FR" dirty="0"/>
              <a:t>Automatisation (PRA)</a:t>
            </a:r>
          </a:p>
          <a:p>
            <a:pPr lvl="1"/>
            <a:r>
              <a:rPr lang="fr-FR" dirty="0"/>
              <a:t>Couche Infrastructure de stockage</a:t>
            </a:r>
          </a:p>
        </p:txBody>
      </p:sp>
    </p:spTree>
    <p:extLst>
      <p:ext uri="{BB962C8B-B14F-4D97-AF65-F5344CB8AC3E}">
        <p14:creationId xmlns:p14="http://schemas.microsoft.com/office/powerpoint/2010/main" val="241734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/>
          <a:lstStyle/>
          <a:p>
            <a:pPr algn="ctr"/>
            <a:r>
              <a:rPr lang="fr-FR" dirty="0" smtClean="0"/>
              <a:t>DIAGRAMME DE COMPOSANT 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4792"/>
            <a:ext cx="12192000" cy="5933208"/>
          </a:xfrm>
        </p:spPr>
      </p:pic>
    </p:spTree>
    <p:extLst>
      <p:ext uri="{BB962C8B-B14F-4D97-AF65-F5344CB8AC3E}">
        <p14:creationId xmlns:p14="http://schemas.microsoft.com/office/powerpoint/2010/main" val="1078832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DIAGRAMMES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281438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/>
          <a:lstStyle/>
          <a:p>
            <a:pPr algn="ctr"/>
            <a:r>
              <a:rPr lang="fr-FR" dirty="0" smtClean="0"/>
              <a:t>DIAGRAMME DE CLASSE 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274"/>
            <a:ext cx="12191999" cy="6026726"/>
          </a:xfrm>
        </p:spPr>
      </p:pic>
    </p:spTree>
    <p:extLst>
      <p:ext uri="{BB962C8B-B14F-4D97-AF65-F5344CB8AC3E}">
        <p14:creationId xmlns:p14="http://schemas.microsoft.com/office/powerpoint/2010/main" val="149063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DIAGRAMME DE SEQUENCE : Création volume  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882"/>
            <a:ext cx="12192000" cy="6037118"/>
          </a:xfrm>
        </p:spPr>
      </p:pic>
    </p:spTree>
    <p:extLst>
      <p:ext uri="{BB962C8B-B14F-4D97-AF65-F5344CB8AC3E}">
        <p14:creationId xmlns:p14="http://schemas.microsoft.com/office/powerpoint/2010/main" val="3214227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DIAGRAMME DE SEQUENCE : Création </a:t>
            </a:r>
            <a:r>
              <a:rPr lang="fr-FR" dirty="0" err="1" smtClean="0"/>
              <a:t>Snapshot</a:t>
            </a:r>
            <a:r>
              <a:rPr lang="fr-FR" dirty="0" smtClean="0"/>
              <a:t> 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8082"/>
            <a:ext cx="12192000" cy="5579917"/>
          </a:xfrm>
        </p:spPr>
      </p:pic>
    </p:spTree>
    <p:extLst>
      <p:ext uri="{BB962C8B-B14F-4D97-AF65-F5344CB8AC3E}">
        <p14:creationId xmlns:p14="http://schemas.microsoft.com/office/powerpoint/2010/main" val="252400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DIAGRAMME DE SEQUENCE : Restauration </a:t>
            </a:r>
            <a:r>
              <a:rPr lang="fr-FR" dirty="0" err="1" smtClean="0"/>
              <a:t>Snapshot</a:t>
            </a:r>
            <a:r>
              <a:rPr lang="fr-FR" dirty="0" smtClean="0"/>
              <a:t> 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864"/>
            <a:ext cx="12192000" cy="5559135"/>
          </a:xfrm>
        </p:spPr>
      </p:pic>
    </p:spTree>
    <p:extLst>
      <p:ext uri="{BB962C8B-B14F-4D97-AF65-F5344CB8AC3E}">
        <p14:creationId xmlns:p14="http://schemas.microsoft.com/office/powerpoint/2010/main" val="399154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DIAGRAMME DE SEQUENCE : Gestion automatique PRA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30036"/>
            <a:ext cx="12192000" cy="5527963"/>
          </a:xfrm>
        </p:spPr>
      </p:pic>
    </p:spTree>
    <p:extLst>
      <p:ext uri="{BB962C8B-B14F-4D97-AF65-F5344CB8AC3E}">
        <p14:creationId xmlns:p14="http://schemas.microsoft.com/office/powerpoint/2010/main" val="780118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DIAGRAMME D’ACTIVITE : Reprise en cas de panne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6909"/>
            <a:ext cx="12191999" cy="5611091"/>
          </a:xfrm>
        </p:spPr>
      </p:pic>
    </p:spTree>
    <p:extLst>
      <p:ext uri="{BB962C8B-B14F-4D97-AF65-F5344CB8AC3E}">
        <p14:creationId xmlns:p14="http://schemas.microsoft.com/office/powerpoint/2010/main" val="350688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CONCLUSION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8678571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974</TotalTime>
  <Words>103</Words>
  <Application>Microsoft Office PowerPoint</Application>
  <PresentationFormat>Grand écran</PresentationFormat>
  <Paragraphs>66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Trebuchet MS</vt:lpstr>
      <vt:lpstr>Wingdings</vt:lpstr>
      <vt:lpstr>Wingdings 3</vt:lpstr>
      <vt:lpstr>Facette</vt:lpstr>
      <vt:lpstr>GESTION DU STOCKAGE EN BLOC AVEC CINDER </vt:lpstr>
      <vt:lpstr>PLAN </vt:lpstr>
      <vt:lpstr>INTRODUCTION </vt:lpstr>
      <vt:lpstr>CONTEXTE   </vt:lpstr>
      <vt:lpstr>Présentation PowerPoint</vt:lpstr>
      <vt:lpstr>ARCHITECTURE GENERALE</vt:lpstr>
      <vt:lpstr>OBJECTIFS DE L’ARCHITECTURE</vt:lpstr>
      <vt:lpstr>PRINCIPES ARCHITECTURAUX RETENUS</vt:lpstr>
      <vt:lpstr>VUE GLOBALE DES COUCHES </vt:lpstr>
      <vt:lpstr>DIAGRAMME DE COMPOSANT  </vt:lpstr>
      <vt:lpstr>DIAGRAMMES</vt:lpstr>
      <vt:lpstr>DIAGRAMME DE CLASSE  </vt:lpstr>
      <vt:lpstr>DIAGRAMME DE SEQUENCE : Création volume   </vt:lpstr>
      <vt:lpstr>DIAGRAMME DE SEQUENCE : Création Snapshot  </vt:lpstr>
      <vt:lpstr>DIAGRAMME DE SEQUENCE : Restauration Snapshot  </vt:lpstr>
      <vt:lpstr>DIAGRAMME DE SEQUENCE : Gestion automatique PRA </vt:lpstr>
      <vt:lpstr>DIAGRAMME D’ACTIVITE : Reprise en cas de panne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STOCKAGE EN BLOC AVEC CINDER</dc:title>
  <dc:creator>HP</dc:creator>
  <cp:lastModifiedBy>HP</cp:lastModifiedBy>
  <cp:revision>37</cp:revision>
  <dcterms:created xsi:type="dcterms:W3CDTF">2025-10-11T10:13:46Z</dcterms:created>
  <dcterms:modified xsi:type="dcterms:W3CDTF">2026-03-26T00:57:23Z</dcterms:modified>
</cp:coreProperties>
</file>