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6" r:id="rId9"/>
    <p:sldId id="265" r:id="rId10"/>
    <p:sldId id="264" r:id="rId11"/>
    <p:sldId id="273" r:id="rId12"/>
    <p:sldId id="274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50" d="100"/>
          <a:sy n="50" d="100"/>
        </p:scale>
        <p:origin x="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9382" y="1558632"/>
            <a:ext cx="10027227" cy="1692100"/>
          </a:xfrm>
        </p:spPr>
        <p:txBody>
          <a:bodyPr/>
          <a:lstStyle/>
          <a:p>
            <a:pPr algn="ctr"/>
            <a:r>
              <a:rPr lang="fr-FR" dirty="0" smtClean="0"/>
              <a:t>GESTION DU STOCKAGE EN BLOC AVEC CINDER 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07067" y="4050832"/>
            <a:ext cx="7766936" cy="2713649"/>
          </a:xfrm>
        </p:spPr>
        <p:txBody>
          <a:bodyPr>
            <a:normAutofit lnSpcReduction="10000"/>
          </a:bodyPr>
          <a:lstStyle/>
          <a:p>
            <a:pPr algn="ctr"/>
            <a:endParaRPr lang="fr-FR" dirty="0" smtClean="0"/>
          </a:p>
          <a:p>
            <a:pPr algn="ctr"/>
            <a:r>
              <a:rPr lang="fr-FR" dirty="0" smtClean="0"/>
              <a:t>Rédigé et Présenté par </a:t>
            </a:r>
            <a:r>
              <a:rPr lang="fr-FR" b="1" dirty="0" smtClean="0"/>
              <a:t>DZOUAKEU FESSI Emmanuella Cindy</a:t>
            </a:r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 smtClean="0"/>
          </a:p>
          <a:p>
            <a:endParaRPr lang="fr-FR" b="1" dirty="0" smtClean="0"/>
          </a:p>
          <a:p>
            <a:r>
              <a:rPr lang="fr-FR" dirty="0" smtClean="0"/>
              <a:t>Sous la supervision de : M. NGUIMBUS Emmanuel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586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dirty="0" smtClean="0"/>
              <a:t>PLAN 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INTRODUCTION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ANALYSE DE L’EXISTANT 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ARCHITECTURE DE LA SOLUTION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CHOIX TECHNOLOGIQUES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IMPLEMENTATION TECHNIQUE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RESULTAT 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DEMO</a:t>
            </a:r>
          </a:p>
          <a:p>
            <a:pPr marL="0" indent="0">
              <a:buNone/>
            </a:pPr>
            <a:r>
              <a:rPr lang="fr-FR" dirty="0" smtClean="0"/>
              <a:t>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9364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INTRODUCTION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115784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fr-FR" dirty="0" smtClean="0"/>
              <a:t>	Dans </a:t>
            </a:r>
            <a:r>
              <a:rPr lang="fr-FR" dirty="0"/>
              <a:t>le contexte actuel de la virtualisation et du </a:t>
            </a:r>
            <a:r>
              <a:rPr lang="fr-FR" dirty="0" err="1"/>
              <a:t>cloud</a:t>
            </a:r>
            <a:r>
              <a:rPr lang="fr-FR" dirty="0"/>
              <a:t> </a:t>
            </a:r>
            <a:r>
              <a:rPr lang="fr-FR" dirty="0" err="1"/>
              <a:t>computing</a:t>
            </a:r>
            <a:r>
              <a:rPr lang="fr-FR" dirty="0"/>
              <a:t>, la gestion efficace et sécurisée du stockage des données constitue un enjeu majeur pour les entreprises et institutions. </a:t>
            </a:r>
            <a:r>
              <a:rPr lang="fr-FR" dirty="0" err="1"/>
              <a:t>OpenStack</a:t>
            </a:r>
            <a:r>
              <a:rPr lang="fr-FR" dirty="0"/>
              <a:t>, en tant que plateforme </a:t>
            </a:r>
            <a:r>
              <a:rPr lang="fr-FR" dirty="0" err="1"/>
              <a:t>cloud</a:t>
            </a:r>
            <a:r>
              <a:rPr lang="fr-FR" dirty="0"/>
              <a:t> open source, offre une panoplie de services modulaires dont </a:t>
            </a:r>
            <a:r>
              <a:rPr lang="fr-FR" dirty="0" err="1"/>
              <a:t>Cinder</a:t>
            </a:r>
            <a:r>
              <a:rPr lang="fr-FR" dirty="0"/>
              <a:t>, le service de gestion de stockage en blocs</a:t>
            </a:r>
            <a:r>
              <a:rPr lang="fr-FR" dirty="0" smtClean="0"/>
              <a:t>. Ce </a:t>
            </a:r>
            <a:r>
              <a:rPr lang="fr-FR" dirty="0"/>
              <a:t>projet vise à concevoir et à mettre en œuvre une solution de gestion de stockage en blocs basée sur </a:t>
            </a:r>
            <a:r>
              <a:rPr lang="fr-FR" dirty="0" err="1"/>
              <a:t>Cinder</a:t>
            </a:r>
            <a:r>
              <a:rPr lang="fr-FR" dirty="0"/>
              <a:t>, tout en intégrant des mécanismes avancés de chiffrement via </a:t>
            </a:r>
            <a:r>
              <a:rPr lang="fr-FR" dirty="0" err="1"/>
              <a:t>Barbican</a:t>
            </a:r>
            <a:r>
              <a:rPr lang="fr-FR" dirty="0"/>
              <a:t> (le gestionnaire de clés d’</a:t>
            </a:r>
            <a:r>
              <a:rPr lang="fr-FR" dirty="0" err="1"/>
              <a:t>OpenStack</a:t>
            </a:r>
            <a:r>
              <a:rPr lang="fr-FR" dirty="0"/>
              <a:t>) et en automatisant les processus de création, de </a:t>
            </a:r>
            <a:r>
              <a:rPr lang="fr-FR" dirty="0" err="1"/>
              <a:t>snapshot</a:t>
            </a:r>
            <a:r>
              <a:rPr lang="fr-FR" dirty="0"/>
              <a:t> et de restauration des volumes dans le cadre d’un Plan de Reprise d’Activité (PRA).</a:t>
            </a:r>
          </a:p>
        </p:txBody>
      </p:sp>
    </p:spTree>
    <p:extLst>
      <p:ext uri="{BB962C8B-B14F-4D97-AF65-F5344CB8AC3E}">
        <p14:creationId xmlns:p14="http://schemas.microsoft.com/office/powerpoint/2010/main" val="275102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ANALYSE DE L’EXISTANT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1583236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4345"/>
          </a:xfrm>
        </p:spPr>
        <p:txBody>
          <a:bodyPr/>
          <a:lstStyle/>
          <a:p>
            <a:r>
              <a:rPr lang="fr-FR" dirty="0"/>
              <a:t>ANALYSE DE L’EXISTANT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693718"/>
            <a:ext cx="8596668" cy="47590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dirty="0" smtClean="0"/>
              <a:t>	CINDER permet aux machines virtuelles d’avoir des disques persistants, comme si c’était de vraies disques durs physiques. </a:t>
            </a:r>
          </a:p>
          <a:p>
            <a:pPr marL="0" indent="0" algn="just">
              <a:buNone/>
            </a:pPr>
            <a:r>
              <a:rPr lang="fr-FR" dirty="0" smtClean="0"/>
              <a:t>Il permet de :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fr-FR" dirty="0" smtClean="0"/>
              <a:t>Créer des volumes : créer </a:t>
            </a:r>
            <a:r>
              <a:rPr lang="fr-FR" dirty="0"/>
              <a:t>un disque virtuel (ex. 10 Go, 100 </a:t>
            </a:r>
            <a:r>
              <a:rPr lang="fr-FR" dirty="0" smtClean="0"/>
              <a:t>Go) </a:t>
            </a:r>
            <a:r>
              <a:rPr lang="fr-FR" dirty="0"/>
              <a:t>pour une </a:t>
            </a:r>
            <a:r>
              <a:rPr lang="fr-FR" dirty="0" smtClean="0"/>
              <a:t>VM ;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fr-FR" dirty="0" smtClean="0"/>
              <a:t>Attacher et détacher des volumes : connecter </a:t>
            </a:r>
            <a:r>
              <a:rPr lang="fr-FR" dirty="0"/>
              <a:t>ou retirer ce volume d’une </a:t>
            </a:r>
            <a:r>
              <a:rPr lang="fr-FR" dirty="0" smtClean="0"/>
              <a:t>instance ;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fr-FR" dirty="0" smtClean="0"/>
              <a:t>Gérer les </a:t>
            </a:r>
            <a:r>
              <a:rPr lang="fr-FR" dirty="0" err="1" smtClean="0"/>
              <a:t>snapshots</a:t>
            </a:r>
            <a:r>
              <a:rPr lang="fr-FR" dirty="0" smtClean="0"/>
              <a:t> </a:t>
            </a:r>
            <a:r>
              <a:rPr lang="fr-FR" dirty="0"/>
              <a:t>: </a:t>
            </a:r>
            <a:r>
              <a:rPr lang="fr-FR" dirty="0" smtClean="0"/>
              <a:t>créer </a:t>
            </a:r>
            <a:r>
              <a:rPr lang="fr-FR" dirty="0"/>
              <a:t>des copies </a:t>
            </a:r>
            <a:r>
              <a:rPr lang="fr-FR" dirty="0" smtClean="0"/>
              <a:t>d’un </a:t>
            </a:r>
            <a:r>
              <a:rPr lang="fr-FR" dirty="0"/>
              <a:t>volume pour sauvegarde ou clonage </a:t>
            </a:r>
            <a:r>
              <a:rPr lang="fr-FR" dirty="0" smtClean="0"/>
              <a:t>;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fr-FR" dirty="0" smtClean="0"/>
              <a:t>Restaurer un volume : recréer </a:t>
            </a:r>
            <a:r>
              <a:rPr lang="fr-FR" dirty="0"/>
              <a:t>un volume à partir d’un </a:t>
            </a:r>
            <a:r>
              <a:rPr lang="fr-FR" dirty="0" err="1"/>
              <a:t>snapshot</a:t>
            </a:r>
            <a:r>
              <a:rPr lang="fr-FR" dirty="0"/>
              <a:t> </a:t>
            </a:r>
            <a:r>
              <a:rPr lang="fr-FR" dirty="0" smtClean="0"/>
              <a:t>existant ;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fr-FR" dirty="0" smtClean="0"/>
              <a:t>Gérer différents systèmes de stockage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fr-FR" dirty="0" smtClean="0"/>
              <a:t>Chiffrer des volumes : supporte </a:t>
            </a:r>
            <a:r>
              <a:rPr lang="fr-FR" dirty="0"/>
              <a:t>un chiffrement des volumes avec une clé statique ou </a:t>
            </a:r>
            <a:r>
              <a:rPr lang="fr-FR" dirty="0" smtClean="0"/>
              <a:t>intégrée. </a:t>
            </a:r>
          </a:p>
        </p:txBody>
      </p:sp>
    </p:spTree>
    <p:extLst>
      <p:ext uri="{BB962C8B-B14F-4D97-AF65-F5344CB8AC3E}">
        <p14:creationId xmlns:p14="http://schemas.microsoft.com/office/powerpoint/2010/main" val="4125767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ANALYSE DE L’EXISTANT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600201"/>
            <a:ext cx="8596668" cy="4821382"/>
          </a:xfrm>
        </p:spPr>
        <p:txBody>
          <a:bodyPr>
            <a:normAutofit/>
          </a:bodyPr>
          <a:lstStyle/>
          <a:p>
            <a:pPr algn="just"/>
            <a:r>
              <a:rPr lang="fr-FR" dirty="0" smtClean="0"/>
              <a:t>Un seul problème retient notre attention à ce fait, la création de </a:t>
            </a:r>
            <a:r>
              <a:rPr lang="fr-FR" dirty="0" err="1" smtClean="0"/>
              <a:t>snapshots</a:t>
            </a:r>
            <a:r>
              <a:rPr lang="fr-FR" dirty="0" smtClean="0"/>
              <a:t> manuelle. Elle nécessite :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/>
              <a:t>intervention utilisateur	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fr-FR" dirty="0" smtClean="0"/>
              <a:t>Connaissance technique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fr-FR" dirty="0"/>
          </a:p>
          <a:p>
            <a:pPr marL="457200" lvl="1" indent="0" algn="just">
              <a:buNone/>
            </a:pPr>
            <a:r>
              <a:rPr lang="fr-FR" dirty="0" smtClean="0"/>
              <a:t>LIMITES </a:t>
            </a:r>
          </a:p>
          <a:p>
            <a:pPr lvl="1" algn="just"/>
            <a:r>
              <a:rPr lang="fr-FR" dirty="0" smtClean="0"/>
              <a:t>Risque d’oubli de sauvegarde</a:t>
            </a:r>
          </a:p>
          <a:p>
            <a:pPr lvl="1" algn="just"/>
            <a:r>
              <a:rPr lang="fr-FR" dirty="0" smtClean="0"/>
              <a:t>Pas d’automatisation</a:t>
            </a:r>
          </a:p>
          <a:p>
            <a:pPr lvl="1" algn="just"/>
            <a:r>
              <a:rPr lang="fr-FR" dirty="0" smtClean="0"/>
              <a:t>Pas de gestion personnalisé</a:t>
            </a:r>
            <a:endParaRPr lang="fr-FR" dirty="0"/>
          </a:p>
          <a:p>
            <a:pPr marL="0" indent="0" algn="just">
              <a:buNone/>
            </a:pPr>
            <a:r>
              <a:rPr lang="fr-FR" dirty="0"/>
              <a:t>Ainsi, il devient nécessaire de mettre en place un </a:t>
            </a:r>
            <a:r>
              <a:rPr lang="fr-FR" dirty="0" smtClean="0"/>
              <a:t>système d’automatisation des </a:t>
            </a:r>
            <a:r>
              <a:rPr lang="fr-FR" dirty="0" err="1" smtClean="0"/>
              <a:t>snapshot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3086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6000" dirty="0" smtClean="0"/>
              <a:t>ARCHITECTURE DE LA SOLUTION 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3943137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ARCHITECTURE DE LA SOLUTION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516352"/>
            <a:ext cx="8596668" cy="3880773"/>
          </a:xfrm>
        </p:spPr>
        <p:txBody>
          <a:bodyPr/>
          <a:lstStyle/>
          <a:p>
            <a:pPr algn="just"/>
            <a:r>
              <a:rPr lang="fr-FR" dirty="0" smtClean="0"/>
              <a:t>INTERFACE UTILISATEUR : application</a:t>
            </a:r>
          </a:p>
          <a:p>
            <a:pPr algn="just"/>
            <a:endParaRPr lang="fr-FR" dirty="0"/>
          </a:p>
          <a:p>
            <a:pPr algn="just"/>
            <a:r>
              <a:rPr lang="fr-FR" dirty="0" smtClean="0"/>
              <a:t>KEYSTONE : authentification</a:t>
            </a:r>
          </a:p>
          <a:p>
            <a:pPr algn="just"/>
            <a:endParaRPr lang="fr-FR" dirty="0"/>
          </a:p>
          <a:p>
            <a:pPr algn="just"/>
            <a:r>
              <a:rPr lang="fr-FR" dirty="0" smtClean="0"/>
              <a:t>CINDER : gestion volume et </a:t>
            </a:r>
            <a:r>
              <a:rPr lang="fr-FR" dirty="0" err="1" smtClean="0"/>
              <a:t>snapshot</a:t>
            </a:r>
            <a:endParaRPr lang="fr-FR" dirty="0" smtClean="0"/>
          </a:p>
          <a:p>
            <a:pPr algn="just"/>
            <a:endParaRPr lang="fr-FR" dirty="0"/>
          </a:p>
          <a:p>
            <a:pPr algn="just"/>
            <a:r>
              <a:rPr lang="fr-FR" dirty="0" smtClean="0"/>
              <a:t>BACKEND STOCKAGE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7340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CHOIX TECHNOLOGIQUES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OpenStack</a:t>
            </a:r>
            <a:r>
              <a:rPr lang="en-US" sz="2400" dirty="0"/>
              <a:t> (Cinder, Keystone</a:t>
            </a:r>
            <a:r>
              <a:rPr lang="en-US" sz="2400" dirty="0" smtClean="0"/>
              <a:t>)</a:t>
            </a:r>
          </a:p>
          <a:p>
            <a:endParaRPr lang="en-US" sz="2400" dirty="0"/>
          </a:p>
          <a:p>
            <a:r>
              <a:rPr lang="en-US" sz="2400" dirty="0" smtClean="0"/>
              <a:t>Python</a:t>
            </a:r>
          </a:p>
          <a:p>
            <a:endParaRPr lang="en-US" sz="2400" dirty="0"/>
          </a:p>
          <a:p>
            <a:r>
              <a:rPr lang="en-US" sz="2400" dirty="0" err="1" smtClean="0"/>
              <a:t>Réact</a:t>
            </a:r>
            <a:r>
              <a:rPr lang="en-US" sz="2400" dirty="0" smtClean="0"/>
              <a:t> JS</a:t>
            </a:r>
            <a:endParaRPr lang="en-US" sz="2400" dirty="0"/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9950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IMPLEMENTATION TECHNIQUE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Connexion utilisateur</a:t>
            </a:r>
          </a:p>
          <a:p>
            <a:r>
              <a:rPr lang="fr-FR" sz="2400" dirty="0"/>
              <a:t>Liste des volumes</a:t>
            </a:r>
          </a:p>
          <a:p>
            <a:r>
              <a:rPr lang="fr-FR" sz="2400" dirty="0"/>
              <a:t>Choix du volume</a:t>
            </a:r>
          </a:p>
          <a:p>
            <a:r>
              <a:rPr lang="fr-FR" sz="2400" dirty="0"/>
              <a:t>Définition fréquence</a:t>
            </a:r>
          </a:p>
          <a:p>
            <a:r>
              <a:rPr lang="fr-FR" sz="2400" dirty="0"/>
              <a:t>Automatisation des </a:t>
            </a:r>
            <a:r>
              <a:rPr lang="fr-FR" sz="2400" dirty="0" err="1"/>
              <a:t>snapshots</a:t>
            </a:r>
            <a:endParaRPr lang="fr-FR" sz="2400" dirty="0"/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3827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RESULTATS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Automatisation réussie</a:t>
            </a:r>
          </a:p>
          <a:p>
            <a:r>
              <a:rPr lang="fr-FR" sz="2800" dirty="0"/>
              <a:t>Réduction erreurs</a:t>
            </a:r>
          </a:p>
          <a:p>
            <a:r>
              <a:rPr lang="fr-FR" sz="2800" dirty="0"/>
              <a:t>Gain de temps</a:t>
            </a:r>
          </a:p>
          <a:p>
            <a:r>
              <a:rPr lang="fr-FR" sz="2800" dirty="0"/>
              <a:t>Interface simple</a:t>
            </a:r>
          </a:p>
        </p:txBody>
      </p:sp>
    </p:spTree>
    <p:extLst>
      <p:ext uri="{BB962C8B-B14F-4D97-AF65-F5344CB8AC3E}">
        <p14:creationId xmlns:p14="http://schemas.microsoft.com/office/powerpoint/2010/main" val="3630315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CONCLUSION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38678571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478</TotalTime>
  <Words>131</Words>
  <Application>Microsoft Office PowerPoint</Application>
  <PresentationFormat>Grand écran</PresentationFormat>
  <Paragraphs>66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Trebuchet MS</vt:lpstr>
      <vt:lpstr>Wingdings</vt:lpstr>
      <vt:lpstr>Wingdings 3</vt:lpstr>
      <vt:lpstr>Facette</vt:lpstr>
      <vt:lpstr>GESTION DU STOCKAGE EN BLOC AVEC CINDER </vt:lpstr>
      <vt:lpstr>PLAN </vt:lpstr>
      <vt:lpstr>INTRODUCTION</vt:lpstr>
      <vt:lpstr>Présentation PowerPoint</vt:lpstr>
      <vt:lpstr>ANALYSE DE L’EXISTANT</vt:lpstr>
      <vt:lpstr>ANALYSE DE L’EXISTANT</vt:lpstr>
      <vt:lpstr>ANALYSE DE L’EXISTANT</vt:lpstr>
      <vt:lpstr>ARCHITECTURE DE LA SOLUTION </vt:lpstr>
      <vt:lpstr>ARCHITECTURE DE LA SOLUTION</vt:lpstr>
      <vt:lpstr>CHOIX TECHNOLOGIQUES  </vt:lpstr>
      <vt:lpstr>IMPLEMENTATION TECHNIQUE </vt:lpstr>
      <vt:lpstr>RESULTATS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DU STOCKAGE EN BLOC AVEC CINDER</dc:title>
  <dc:creator>HP</dc:creator>
  <cp:lastModifiedBy>HP</cp:lastModifiedBy>
  <cp:revision>19</cp:revision>
  <dcterms:created xsi:type="dcterms:W3CDTF">2025-10-11T10:13:46Z</dcterms:created>
  <dcterms:modified xsi:type="dcterms:W3CDTF">2026-03-26T00:16:31Z</dcterms:modified>
</cp:coreProperties>
</file>